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png" ContentType="image/png"/>
  <Default Extension="rels" ContentType="application/vnd.openxmlformats-package.relationships+xml"/>
  <Override PartName="/ppt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81" r:id="rIdTransformerCompletion1"/>
    <p:sldId id="282" r:id="rIdTransformerCompletion2"/>
    <p:sldId id="283" r:id="rIdTransformerCompletion3"/>
    <p:sldId id="284" r:id="rIdTransformerCompletion4"/>
    <p:sldId id="285" r:id="rIdTransformerCompletion5"/>
    <p:sldId id="286" r:id="rIdTransformerCompletion6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customXml" Target="customXml/item1.xml"/><Relationship Id="rId32" Type="http://schemas.openxmlformats.org/officeDocument/2006/relationships/customXmlProps" Target="customXml/itemProps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TransformerCompletion1" Type="http://schemas.openxmlformats.org/officeDocument/2006/relationships/slide" Target="slides/slide26.xml"/><Relationship Id="rIdTransformerCompletion2" Type="http://schemas.openxmlformats.org/officeDocument/2006/relationships/slide" Target="slides/slide27.xml"/><Relationship Id="rIdTransformerCompletion3" Type="http://schemas.openxmlformats.org/officeDocument/2006/relationships/slide" Target="slides/slide28.xml"/><Relationship Id="rIdTransformerCompletion4" Type="http://schemas.openxmlformats.org/officeDocument/2006/relationships/slide" Target="slides/slide29.xml"/><Relationship Id="rIdTransformerCompletion5" Type="http://schemas.openxmlformats.org/officeDocument/2006/relationships/slide" Target="slides/slide30.xml"/><Relationship Id="rIdTransformerCompletion6" Type="http://schemas.openxmlformats.org/officeDocument/2006/relationships/slide" Target="slides/slide3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ResNet-18 训练</c:v>
                </c:pt>
              </c:strCache>
            </c:strRef>
          </c:tx>
          <c:spPr>
            <a:ln w="23813" cap="rnd">
              <a:solidFill>
                <a:srgbClr val="2B66B5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Data'!$A$2:$A$81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Data'!$B$2:$B$81</c:f>
              <c:numCache>
                <c:formatCode>0</c:formatCode>
                <c:ptCount val="80"/>
                <c:pt idx="0">
                  <c:v>34.68</c:v>
                </c:pt>
                <c:pt idx="1">
                  <c:v>45.512</c:v>
                </c:pt>
                <c:pt idx="2">
                  <c:v>53.7</c:v>
                </c:pt>
                <c:pt idx="3">
                  <c:v>60.794</c:v>
                </c:pt>
                <c:pt idx="4">
                  <c:v>65.524</c:v>
                </c:pt>
                <c:pt idx="5">
                  <c:v>67.202</c:v>
                </c:pt>
                <c:pt idx="6">
                  <c:v>70.06</c:v>
                </c:pt>
                <c:pt idx="7">
                  <c:v>71.454</c:v>
                </c:pt>
                <c:pt idx="8">
                  <c:v>73</c:v>
                </c:pt>
                <c:pt idx="9">
                  <c:v>74.044</c:v>
                </c:pt>
                <c:pt idx="10">
                  <c:v>75.564</c:v>
                </c:pt>
                <c:pt idx="11">
                  <c:v>76.372</c:v>
                </c:pt>
                <c:pt idx="12">
                  <c:v>77.354</c:v>
                </c:pt>
                <c:pt idx="13">
                  <c:v>78.054</c:v>
                </c:pt>
                <c:pt idx="14">
                  <c:v>79.022</c:v>
                </c:pt>
                <c:pt idx="15">
                  <c:v>79.482</c:v>
                </c:pt>
                <c:pt idx="16">
                  <c:v>80.374</c:v>
                </c:pt>
                <c:pt idx="17">
                  <c:v>80.7</c:v>
                </c:pt>
                <c:pt idx="18">
                  <c:v>81.134</c:v>
                </c:pt>
                <c:pt idx="19">
                  <c:v>81.828</c:v>
                </c:pt>
                <c:pt idx="20">
                  <c:v>82.036</c:v>
                </c:pt>
                <c:pt idx="21">
                  <c:v>82.914</c:v>
                </c:pt>
                <c:pt idx="22">
                  <c:v>83.206</c:v>
                </c:pt>
                <c:pt idx="23">
                  <c:v>83.556</c:v>
                </c:pt>
                <c:pt idx="24">
                  <c:v>84.188</c:v>
                </c:pt>
                <c:pt idx="25">
                  <c:v>84.52</c:v>
                </c:pt>
                <c:pt idx="26">
                  <c:v>85.024</c:v>
                </c:pt>
                <c:pt idx="27">
                  <c:v>85.182</c:v>
                </c:pt>
                <c:pt idx="28">
                  <c:v>85.948</c:v>
                </c:pt>
                <c:pt idx="29">
                  <c:v>85.758</c:v>
                </c:pt>
                <c:pt idx="30">
                  <c:v>86.106</c:v>
                </c:pt>
                <c:pt idx="31">
                  <c:v>86.494</c:v>
                </c:pt>
                <c:pt idx="32">
                  <c:v>86.904</c:v>
                </c:pt>
                <c:pt idx="33">
                  <c:v>87.112</c:v>
                </c:pt>
                <c:pt idx="34">
                  <c:v>87.644</c:v>
                </c:pt>
                <c:pt idx="35">
                  <c:v>87.516</c:v>
                </c:pt>
                <c:pt idx="36">
                  <c:v>87.868</c:v>
                </c:pt>
                <c:pt idx="37">
                  <c:v>88.44</c:v>
                </c:pt>
                <c:pt idx="38">
                  <c:v>88.664</c:v>
                </c:pt>
                <c:pt idx="39">
                  <c:v>88.78</c:v>
                </c:pt>
                <c:pt idx="40">
                  <c:v>88.964</c:v>
                </c:pt>
                <c:pt idx="41">
                  <c:v>89.136</c:v>
                </c:pt>
                <c:pt idx="42">
                  <c:v>89.346</c:v>
                </c:pt>
                <c:pt idx="43">
                  <c:v>89.552</c:v>
                </c:pt>
                <c:pt idx="44">
                  <c:v>89.69</c:v>
                </c:pt>
                <c:pt idx="45">
                  <c:v>90.1</c:v>
                </c:pt>
                <c:pt idx="46">
                  <c:v>90.192</c:v>
                </c:pt>
                <c:pt idx="47">
                  <c:v>90.676</c:v>
                </c:pt>
                <c:pt idx="48">
                  <c:v>92.924</c:v>
                </c:pt>
                <c:pt idx="49">
                  <c:v>94.156</c:v>
                </c:pt>
                <c:pt idx="50">
                  <c:v>94.488</c:v>
                </c:pt>
                <c:pt idx="51">
                  <c:v>94.996</c:v>
                </c:pt>
                <c:pt idx="52">
                  <c:v>95.01</c:v>
                </c:pt>
                <c:pt idx="53">
                  <c:v>95.158</c:v>
                </c:pt>
                <c:pt idx="54">
                  <c:v>95.516</c:v>
                </c:pt>
                <c:pt idx="55">
                  <c:v>95.544</c:v>
                </c:pt>
                <c:pt idx="56">
                  <c:v>95.698</c:v>
                </c:pt>
                <c:pt idx="57">
                  <c:v>95.82</c:v>
                </c:pt>
                <c:pt idx="58">
                  <c:v>95.942</c:v>
                </c:pt>
                <c:pt idx="59">
                  <c:v>96.048</c:v>
                </c:pt>
                <c:pt idx="60">
                  <c:v>96.024</c:v>
                </c:pt>
                <c:pt idx="61">
                  <c:v>96.068</c:v>
                </c:pt>
                <c:pt idx="62">
                  <c:v>96.41</c:v>
                </c:pt>
                <c:pt idx="63">
                  <c:v>96.432</c:v>
                </c:pt>
                <c:pt idx="64">
                  <c:v>96.586</c:v>
                </c:pt>
                <c:pt idx="65">
                  <c:v>96.696</c:v>
                </c:pt>
                <c:pt idx="66">
                  <c:v>96.838</c:v>
                </c:pt>
                <c:pt idx="67">
                  <c:v>96.734</c:v>
                </c:pt>
                <c:pt idx="68">
                  <c:v>96.958</c:v>
                </c:pt>
                <c:pt idx="69">
                  <c:v>96.838</c:v>
                </c:pt>
                <c:pt idx="70">
                  <c:v>96.872</c:v>
                </c:pt>
                <c:pt idx="71">
                  <c:v>96.862</c:v>
                </c:pt>
                <c:pt idx="72">
                  <c:v>96.834</c:v>
                </c:pt>
                <c:pt idx="73">
                  <c:v>96.766</c:v>
                </c:pt>
                <c:pt idx="74">
                  <c:v>96.928</c:v>
                </c:pt>
                <c:pt idx="75">
                  <c:v>96.916</c:v>
                </c:pt>
                <c:pt idx="76">
                  <c:v>97.022</c:v>
                </c:pt>
                <c:pt idx="77">
                  <c:v>96.9</c:v>
                </c:pt>
                <c:pt idx="78">
                  <c:v>96.846</c:v>
                </c:pt>
                <c:pt idx="79">
                  <c:v>96.962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'Chart Data'!$D$1</c:f>
              <c:strCache>
                <c:ptCount val="1"/>
                <c:pt idx="0">
                  <c:v>ResNet-18 测试</c:v>
                </c:pt>
              </c:strCache>
            </c:strRef>
          </c:tx>
          <c:spPr>
            <a:ln w="23813" cap="rnd">
              <a:solidFill>
                <a:srgbClr val="2B66B5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Data'!$C$2:$C$81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Data'!$D$2:$D$81</c:f>
              <c:numCache>
                <c:formatCode>0</c:formatCode>
                <c:ptCount val="80"/>
                <c:pt idx="0">
                  <c:v>44.71</c:v>
                </c:pt>
                <c:pt idx="1">
                  <c:v>51.22</c:v>
                </c:pt>
                <c:pt idx="2">
                  <c:v>56.06</c:v>
                </c:pt>
                <c:pt idx="3">
                  <c:v>63.35</c:v>
                </c:pt>
                <c:pt idx="4">
                  <c:v>65.53</c:v>
                </c:pt>
                <c:pt idx="5">
                  <c:v>66.16</c:v>
                </c:pt>
                <c:pt idx="6">
                  <c:v>71.44</c:v>
                </c:pt>
                <c:pt idx="7">
                  <c:v>70.66</c:v>
                </c:pt>
                <c:pt idx="8">
                  <c:v>72.75</c:v>
                </c:pt>
                <c:pt idx="9">
                  <c:v>73.79</c:v>
                </c:pt>
                <c:pt idx="10">
                  <c:v>71.7</c:v>
                </c:pt>
                <c:pt idx="11">
                  <c:v>75.07</c:v>
                </c:pt>
                <c:pt idx="12">
                  <c:v>77.19</c:v>
                </c:pt>
                <c:pt idx="13">
                  <c:v>76.55</c:v>
                </c:pt>
                <c:pt idx="14">
                  <c:v>77.46</c:v>
                </c:pt>
                <c:pt idx="15">
                  <c:v>76.06</c:v>
                </c:pt>
                <c:pt idx="16">
                  <c:v>76.8</c:v>
                </c:pt>
                <c:pt idx="17">
                  <c:v>77.36</c:v>
                </c:pt>
                <c:pt idx="18">
                  <c:v>77.24</c:v>
                </c:pt>
                <c:pt idx="19">
                  <c:v>78.07</c:v>
                </c:pt>
                <c:pt idx="20">
                  <c:v>77.03</c:v>
                </c:pt>
                <c:pt idx="21">
                  <c:v>77.41</c:v>
                </c:pt>
                <c:pt idx="22">
                  <c:v>77.13</c:v>
                </c:pt>
                <c:pt idx="23">
                  <c:v>78.18</c:v>
                </c:pt>
                <c:pt idx="24">
                  <c:v>79.76</c:v>
                </c:pt>
                <c:pt idx="25">
                  <c:v>79.68</c:v>
                </c:pt>
                <c:pt idx="26">
                  <c:v>78.93</c:v>
                </c:pt>
                <c:pt idx="27">
                  <c:v>79.87</c:v>
                </c:pt>
                <c:pt idx="28">
                  <c:v>79.47</c:v>
                </c:pt>
                <c:pt idx="29">
                  <c:v>81.23</c:v>
                </c:pt>
                <c:pt idx="30">
                  <c:v>80.89</c:v>
                </c:pt>
                <c:pt idx="31">
                  <c:v>79.87</c:v>
                </c:pt>
                <c:pt idx="32">
                  <c:v>81.93</c:v>
                </c:pt>
                <c:pt idx="33">
                  <c:v>80.88</c:v>
                </c:pt>
                <c:pt idx="34">
                  <c:v>81.27</c:v>
                </c:pt>
                <c:pt idx="35">
                  <c:v>80.86</c:v>
                </c:pt>
                <c:pt idx="36">
                  <c:v>80.58</c:v>
                </c:pt>
                <c:pt idx="37">
                  <c:v>80.43</c:v>
                </c:pt>
                <c:pt idx="38">
                  <c:v>80.38</c:v>
                </c:pt>
                <c:pt idx="39">
                  <c:v>81.1</c:v>
                </c:pt>
                <c:pt idx="40">
                  <c:v>81.38</c:v>
                </c:pt>
                <c:pt idx="41">
                  <c:v>81.93</c:v>
                </c:pt>
                <c:pt idx="42">
                  <c:v>80.52</c:v>
                </c:pt>
                <c:pt idx="43">
                  <c:v>81.42</c:v>
                </c:pt>
                <c:pt idx="44">
                  <c:v>81.72</c:v>
                </c:pt>
                <c:pt idx="45">
                  <c:v>80.73</c:v>
                </c:pt>
                <c:pt idx="46">
                  <c:v>82.07</c:v>
                </c:pt>
                <c:pt idx="47">
                  <c:v>80.27</c:v>
                </c:pt>
                <c:pt idx="48">
                  <c:v>84.17</c:v>
                </c:pt>
                <c:pt idx="49">
                  <c:v>84.18</c:v>
                </c:pt>
                <c:pt idx="50">
                  <c:v>84.24</c:v>
                </c:pt>
                <c:pt idx="51">
                  <c:v>84.15</c:v>
                </c:pt>
                <c:pt idx="52">
                  <c:v>84.15</c:v>
                </c:pt>
                <c:pt idx="53">
                  <c:v>84.2</c:v>
                </c:pt>
                <c:pt idx="54">
                  <c:v>84.26</c:v>
                </c:pt>
                <c:pt idx="55">
                  <c:v>84.32</c:v>
                </c:pt>
                <c:pt idx="56">
                  <c:v>84.39</c:v>
                </c:pt>
                <c:pt idx="57">
                  <c:v>84.32</c:v>
                </c:pt>
                <c:pt idx="58">
                  <c:v>84.19</c:v>
                </c:pt>
                <c:pt idx="59">
                  <c:v>84.5</c:v>
                </c:pt>
                <c:pt idx="60">
                  <c:v>84.36</c:v>
                </c:pt>
                <c:pt idx="61">
                  <c:v>84.12</c:v>
                </c:pt>
                <c:pt idx="62">
                  <c:v>84.32</c:v>
                </c:pt>
                <c:pt idx="63">
                  <c:v>84.25</c:v>
                </c:pt>
                <c:pt idx="64">
                  <c:v>84.38</c:v>
                </c:pt>
                <c:pt idx="65">
                  <c:v>84.33</c:v>
                </c:pt>
                <c:pt idx="66">
                  <c:v>84.29</c:v>
                </c:pt>
                <c:pt idx="67">
                  <c:v>84.39</c:v>
                </c:pt>
                <c:pt idx="68">
                  <c:v>84.38</c:v>
                </c:pt>
                <c:pt idx="69">
                  <c:v>84.3</c:v>
                </c:pt>
                <c:pt idx="70">
                  <c:v>84.34</c:v>
                </c:pt>
                <c:pt idx="71">
                  <c:v>84.47</c:v>
                </c:pt>
                <c:pt idx="72">
                  <c:v>84.25</c:v>
                </c:pt>
                <c:pt idx="73">
                  <c:v>84.23</c:v>
                </c:pt>
                <c:pt idx="74">
                  <c:v>84.28</c:v>
                </c:pt>
                <c:pt idx="75">
                  <c:v>84.29</c:v>
                </c:pt>
                <c:pt idx="76">
                  <c:v>84.22</c:v>
                </c:pt>
                <c:pt idx="77">
                  <c:v>84.41</c:v>
                </c:pt>
                <c:pt idx="78">
                  <c:v>84.39</c:v>
                </c:pt>
                <c:pt idx="79">
                  <c:v>84.41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'Chart Data'!$F$1</c:f>
              <c:strCache>
                <c:ptCount val="1"/>
                <c:pt idx="0">
                  <c:v>CNN 训练</c:v>
                </c:pt>
              </c:strCache>
            </c:strRef>
          </c:tx>
          <c:spPr>
            <a:ln w="23813" cap="rnd">
              <a:solidFill>
                <a:srgbClr val="D078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Data'!$E$2:$E$81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Data'!$F$2:$F$81</c:f>
              <c:numCache>
                <c:formatCode>0</c:formatCode>
                <c:ptCount val="80"/>
                <c:pt idx="0">
                  <c:v>21.942</c:v>
                </c:pt>
                <c:pt idx="1">
                  <c:v>33.884</c:v>
                </c:pt>
                <c:pt idx="2">
                  <c:v>40.734</c:v>
                </c:pt>
                <c:pt idx="3">
                  <c:v>44.69</c:v>
                </c:pt>
                <c:pt idx="4">
                  <c:v>47.324</c:v>
                </c:pt>
                <c:pt idx="5">
                  <c:v>49.482</c:v>
                </c:pt>
                <c:pt idx="6">
                  <c:v>51.342</c:v>
                </c:pt>
                <c:pt idx="7">
                  <c:v>52.858</c:v>
                </c:pt>
                <c:pt idx="8">
                  <c:v>54.012</c:v>
                </c:pt>
                <c:pt idx="9">
                  <c:v>54.946</c:v>
                </c:pt>
                <c:pt idx="10">
                  <c:v>56.268</c:v>
                </c:pt>
                <c:pt idx="11">
                  <c:v>57.578</c:v>
                </c:pt>
                <c:pt idx="12">
                  <c:v>58.528</c:v>
                </c:pt>
                <c:pt idx="13">
                  <c:v>59.724</c:v>
                </c:pt>
                <c:pt idx="14">
                  <c:v>60.408</c:v>
                </c:pt>
                <c:pt idx="15">
                  <c:v>61.124</c:v>
                </c:pt>
                <c:pt idx="16">
                  <c:v>62.292</c:v>
                </c:pt>
                <c:pt idx="17">
                  <c:v>62.892</c:v>
                </c:pt>
                <c:pt idx="18">
                  <c:v>63.404</c:v>
                </c:pt>
                <c:pt idx="19">
                  <c:v>64.374</c:v>
                </c:pt>
                <c:pt idx="20">
                  <c:v>64.978</c:v>
                </c:pt>
                <c:pt idx="21">
                  <c:v>65.592</c:v>
                </c:pt>
                <c:pt idx="22">
                  <c:v>66.244</c:v>
                </c:pt>
                <c:pt idx="23">
                  <c:v>67.056</c:v>
                </c:pt>
                <c:pt idx="24">
                  <c:v>67.352</c:v>
                </c:pt>
                <c:pt idx="25">
                  <c:v>68.358</c:v>
                </c:pt>
                <c:pt idx="26">
                  <c:v>68.804</c:v>
                </c:pt>
                <c:pt idx="27">
                  <c:v>69.736</c:v>
                </c:pt>
                <c:pt idx="28">
                  <c:v>70.176</c:v>
                </c:pt>
                <c:pt idx="29">
                  <c:v>70.562</c:v>
                </c:pt>
                <c:pt idx="30">
                  <c:v>71.376</c:v>
                </c:pt>
                <c:pt idx="31">
                  <c:v>71.192</c:v>
                </c:pt>
                <c:pt idx="32">
                  <c:v>72.114</c:v>
                </c:pt>
                <c:pt idx="33">
                  <c:v>72.832</c:v>
                </c:pt>
                <c:pt idx="34">
                  <c:v>73.34</c:v>
                </c:pt>
                <c:pt idx="35">
                  <c:v>73.944</c:v>
                </c:pt>
                <c:pt idx="36">
                  <c:v>74.394</c:v>
                </c:pt>
                <c:pt idx="37">
                  <c:v>74.904</c:v>
                </c:pt>
                <c:pt idx="38">
                  <c:v>75.066</c:v>
                </c:pt>
                <c:pt idx="39">
                  <c:v>75.68</c:v>
                </c:pt>
                <c:pt idx="40">
                  <c:v>75.878</c:v>
                </c:pt>
                <c:pt idx="41">
                  <c:v>77.054</c:v>
                </c:pt>
                <c:pt idx="42">
                  <c:v>76.82</c:v>
                </c:pt>
                <c:pt idx="43">
                  <c:v>77.536</c:v>
                </c:pt>
                <c:pt idx="44">
                  <c:v>78.058</c:v>
                </c:pt>
                <c:pt idx="45">
                  <c:v>78.48</c:v>
                </c:pt>
                <c:pt idx="46">
                  <c:v>78.988</c:v>
                </c:pt>
                <c:pt idx="47">
                  <c:v>79.144</c:v>
                </c:pt>
                <c:pt idx="48">
                  <c:v>79.722</c:v>
                </c:pt>
                <c:pt idx="49">
                  <c:v>79.782</c:v>
                </c:pt>
                <c:pt idx="50">
                  <c:v>79.794</c:v>
                </c:pt>
                <c:pt idx="51">
                  <c:v>80.66</c:v>
                </c:pt>
                <c:pt idx="52">
                  <c:v>81.28</c:v>
                </c:pt>
                <c:pt idx="53">
                  <c:v>81.246</c:v>
                </c:pt>
                <c:pt idx="54">
                  <c:v>81.298</c:v>
                </c:pt>
                <c:pt idx="55">
                  <c:v>81.876</c:v>
                </c:pt>
                <c:pt idx="56">
                  <c:v>82.246</c:v>
                </c:pt>
                <c:pt idx="57">
                  <c:v>82.29</c:v>
                </c:pt>
                <c:pt idx="58">
                  <c:v>83.068</c:v>
                </c:pt>
                <c:pt idx="59">
                  <c:v>82.924</c:v>
                </c:pt>
                <c:pt idx="60">
                  <c:v>82.348</c:v>
                </c:pt>
                <c:pt idx="61">
                  <c:v>84.53</c:v>
                </c:pt>
                <c:pt idx="62">
                  <c:v>83.968</c:v>
                </c:pt>
                <c:pt idx="63">
                  <c:v>85.164</c:v>
                </c:pt>
                <c:pt idx="64">
                  <c:v>84.258</c:v>
                </c:pt>
                <c:pt idx="65">
                  <c:v>84.474</c:v>
                </c:pt>
                <c:pt idx="66">
                  <c:v>85.316</c:v>
                </c:pt>
                <c:pt idx="67">
                  <c:v>85.776</c:v>
                </c:pt>
                <c:pt idx="68">
                  <c:v>85.322</c:v>
                </c:pt>
                <c:pt idx="69">
                  <c:v>86.594</c:v>
                </c:pt>
                <c:pt idx="70">
                  <c:v>86.612</c:v>
                </c:pt>
                <c:pt idx="71">
                  <c:v>86.17</c:v>
                </c:pt>
                <c:pt idx="72">
                  <c:v>86.11</c:v>
                </c:pt>
                <c:pt idx="73">
                  <c:v>87.03</c:v>
                </c:pt>
                <c:pt idx="74">
                  <c:v>87.48</c:v>
                </c:pt>
                <c:pt idx="75">
                  <c:v>87.322</c:v>
                </c:pt>
                <c:pt idx="76">
                  <c:v>87.3</c:v>
                </c:pt>
                <c:pt idx="77">
                  <c:v>88.326</c:v>
                </c:pt>
                <c:pt idx="78">
                  <c:v>88.296</c:v>
                </c:pt>
                <c:pt idx="79">
                  <c:v>87.494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'Chart Data'!$H$1</c:f>
              <c:strCache>
                <c:ptCount val="1"/>
                <c:pt idx="0">
                  <c:v>CNN 测试</c:v>
                </c:pt>
              </c:strCache>
            </c:strRef>
          </c:tx>
          <c:spPr>
            <a:ln w="23813" cap="rnd">
              <a:solidFill>
                <a:srgbClr val="D0782B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Data'!$G$2:$G$81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Data'!$H$2:$H$81</c:f>
              <c:numCache>
                <c:formatCode>0</c:formatCode>
                <c:ptCount val="80"/>
                <c:pt idx="0">
                  <c:v>29.48</c:v>
                </c:pt>
                <c:pt idx="1">
                  <c:v>37.6</c:v>
                </c:pt>
                <c:pt idx="2">
                  <c:v>42.34</c:v>
                </c:pt>
                <c:pt idx="3">
                  <c:v>45.49</c:v>
                </c:pt>
                <c:pt idx="4">
                  <c:v>47.41</c:v>
                </c:pt>
                <c:pt idx="5">
                  <c:v>49.92</c:v>
                </c:pt>
                <c:pt idx="6">
                  <c:v>48.28</c:v>
                </c:pt>
                <c:pt idx="7">
                  <c:v>47.92</c:v>
                </c:pt>
                <c:pt idx="8">
                  <c:v>52.59</c:v>
                </c:pt>
                <c:pt idx="9">
                  <c:v>48.87</c:v>
                </c:pt>
                <c:pt idx="10">
                  <c:v>53.87</c:v>
                </c:pt>
                <c:pt idx="11">
                  <c:v>54.13</c:v>
                </c:pt>
                <c:pt idx="12">
                  <c:v>55.51</c:v>
                </c:pt>
                <c:pt idx="13">
                  <c:v>55.41</c:v>
                </c:pt>
                <c:pt idx="14">
                  <c:v>54.55</c:v>
                </c:pt>
                <c:pt idx="15">
                  <c:v>55.01</c:v>
                </c:pt>
                <c:pt idx="16">
                  <c:v>54.36</c:v>
                </c:pt>
                <c:pt idx="17">
                  <c:v>54.59</c:v>
                </c:pt>
                <c:pt idx="18">
                  <c:v>52.75</c:v>
                </c:pt>
                <c:pt idx="19">
                  <c:v>55.86</c:v>
                </c:pt>
                <c:pt idx="20">
                  <c:v>55.43</c:v>
                </c:pt>
                <c:pt idx="21">
                  <c:v>50.38</c:v>
                </c:pt>
                <c:pt idx="22">
                  <c:v>55.83</c:v>
                </c:pt>
                <c:pt idx="23">
                  <c:v>55.12</c:v>
                </c:pt>
                <c:pt idx="24">
                  <c:v>56.11</c:v>
                </c:pt>
                <c:pt idx="25">
                  <c:v>56.64</c:v>
                </c:pt>
                <c:pt idx="26">
                  <c:v>54.94</c:v>
                </c:pt>
                <c:pt idx="27">
                  <c:v>53</c:v>
                </c:pt>
                <c:pt idx="28">
                  <c:v>55.03</c:v>
                </c:pt>
                <c:pt idx="29">
                  <c:v>55.84</c:v>
                </c:pt>
                <c:pt idx="30">
                  <c:v>54.26</c:v>
                </c:pt>
                <c:pt idx="31">
                  <c:v>57.57</c:v>
                </c:pt>
                <c:pt idx="32">
                  <c:v>55.38</c:v>
                </c:pt>
                <c:pt idx="33">
                  <c:v>56.34</c:v>
                </c:pt>
                <c:pt idx="34">
                  <c:v>55.32</c:v>
                </c:pt>
                <c:pt idx="35">
                  <c:v>56.57</c:v>
                </c:pt>
                <c:pt idx="36">
                  <c:v>57.96</c:v>
                </c:pt>
                <c:pt idx="37">
                  <c:v>57.18</c:v>
                </c:pt>
                <c:pt idx="38">
                  <c:v>56.4</c:v>
                </c:pt>
                <c:pt idx="39">
                  <c:v>57.54</c:v>
                </c:pt>
                <c:pt idx="40">
                  <c:v>55.97</c:v>
                </c:pt>
                <c:pt idx="41">
                  <c:v>56.17</c:v>
                </c:pt>
                <c:pt idx="42">
                  <c:v>56.24</c:v>
                </c:pt>
                <c:pt idx="43">
                  <c:v>56.4</c:v>
                </c:pt>
                <c:pt idx="44">
                  <c:v>54.28</c:v>
                </c:pt>
                <c:pt idx="45">
                  <c:v>55.57</c:v>
                </c:pt>
                <c:pt idx="46">
                  <c:v>53.61</c:v>
                </c:pt>
                <c:pt idx="47">
                  <c:v>53.7</c:v>
                </c:pt>
                <c:pt idx="48">
                  <c:v>57.42</c:v>
                </c:pt>
                <c:pt idx="49">
                  <c:v>57.04</c:v>
                </c:pt>
                <c:pt idx="50">
                  <c:v>50.35</c:v>
                </c:pt>
                <c:pt idx="51">
                  <c:v>54.25</c:v>
                </c:pt>
                <c:pt idx="52">
                  <c:v>53.28</c:v>
                </c:pt>
                <c:pt idx="53">
                  <c:v>55.66</c:v>
                </c:pt>
                <c:pt idx="54">
                  <c:v>55.2</c:v>
                </c:pt>
                <c:pt idx="55">
                  <c:v>53.99</c:v>
                </c:pt>
                <c:pt idx="56">
                  <c:v>56.92</c:v>
                </c:pt>
                <c:pt idx="57">
                  <c:v>56.15</c:v>
                </c:pt>
                <c:pt idx="58">
                  <c:v>53.87</c:v>
                </c:pt>
                <c:pt idx="59">
                  <c:v>53.35</c:v>
                </c:pt>
                <c:pt idx="60">
                  <c:v>55.7</c:v>
                </c:pt>
                <c:pt idx="61">
                  <c:v>54.9</c:v>
                </c:pt>
                <c:pt idx="62">
                  <c:v>56.06</c:v>
                </c:pt>
                <c:pt idx="63">
                  <c:v>55.96</c:v>
                </c:pt>
                <c:pt idx="64">
                  <c:v>53.87</c:v>
                </c:pt>
                <c:pt idx="65">
                  <c:v>54.27</c:v>
                </c:pt>
                <c:pt idx="66">
                  <c:v>55.53</c:v>
                </c:pt>
                <c:pt idx="67">
                  <c:v>55.71</c:v>
                </c:pt>
                <c:pt idx="68">
                  <c:v>55.25</c:v>
                </c:pt>
                <c:pt idx="69">
                  <c:v>53.9</c:v>
                </c:pt>
                <c:pt idx="70">
                  <c:v>53.78</c:v>
                </c:pt>
                <c:pt idx="71">
                  <c:v>54.62</c:v>
                </c:pt>
                <c:pt idx="72">
                  <c:v>55.31</c:v>
                </c:pt>
                <c:pt idx="73">
                  <c:v>53.01</c:v>
                </c:pt>
                <c:pt idx="74">
                  <c:v>54.12</c:v>
                </c:pt>
                <c:pt idx="75">
                  <c:v>54.75</c:v>
                </c:pt>
                <c:pt idx="76">
                  <c:v>54.61</c:v>
                </c:pt>
                <c:pt idx="77">
                  <c:v>52.8</c:v>
                </c:pt>
                <c:pt idx="78">
                  <c:v>54.72</c:v>
                </c:pt>
                <c:pt idx="79">
                  <c:v>55.35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'Chart Data'!$J$1</c:f>
              <c:strCache>
                <c:ptCount val="1"/>
                <c:pt idx="0">
                  <c:v>MLP 训练</c:v>
                </c:pt>
              </c:strCache>
            </c:strRef>
          </c:tx>
          <c:spPr>
            <a:ln w="23813" cap="rnd">
              <a:solidFill>
                <a:srgbClr val="7C8B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Data'!$I$2:$I$81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Data'!$J$2:$J$81</c:f>
              <c:numCache>
                <c:formatCode>0</c:formatCode>
                <c:ptCount val="80"/>
                <c:pt idx="0">
                  <c:v>19.362</c:v>
                </c:pt>
                <c:pt idx="1">
                  <c:v>27.702</c:v>
                </c:pt>
                <c:pt idx="2">
                  <c:v>32.488</c:v>
                </c:pt>
                <c:pt idx="3">
                  <c:v>34.94</c:v>
                </c:pt>
                <c:pt idx="4">
                  <c:v>37.124</c:v>
                </c:pt>
                <c:pt idx="5">
                  <c:v>38.672</c:v>
                </c:pt>
                <c:pt idx="6">
                  <c:v>40.266</c:v>
                </c:pt>
                <c:pt idx="7">
                  <c:v>41.59</c:v>
                </c:pt>
                <c:pt idx="8">
                  <c:v>42.64</c:v>
                </c:pt>
                <c:pt idx="9">
                  <c:v>43.726</c:v>
                </c:pt>
                <c:pt idx="10">
                  <c:v>44.714</c:v>
                </c:pt>
                <c:pt idx="11">
                  <c:v>45.546</c:v>
                </c:pt>
                <c:pt idx="12">
                  <c:v>46.356</c:v>
                </c:pt>
                <c:pt idx="13">
                  <c:v>47.458</c:v>
                </c:pt>
                <c:pt idx="14">
                  <c:v>47.812</c:v>
                </c:pt>
                <c:pt idx="15">
                  <c:v>48.414</c:v>
                </c:pt>
                <c:pt idx="16">
                  <c:v>48.76</c:v>
                </c:pt>
                <c:pt idx="17">
                  <c:v>50.156</c:v>
                </c:pt>
                <c:pt idx="18">
                  <c:v>50.776</c:v>
                </c:pt>
                <c:pt idx="19">
                  <c:v>51.488</c:v>
                </c:pt>
                <c:pt idx="20">
                  <c:v>52.024</c:v>
                </c:pt>
                <c:pt idx="21">
                  <c:v>52.528</c:v>
                </c:pt>
                <c:pt idx="22">
                  <c:v>53.414</c:v>
                </c:pt>
                <c:pt idx="23">
                  <c:v>53.68</c:v>
                </c:pt>
                <c:pt idx="24">
                  <c:v>54.308</c:v>
                </c:pt>
                <c:pt idx="25">
                  <c:v>54.878</c:v>
                </c:pt>
                <c:pt idx="26">
                  <c:v>55.266</c:v>
                </c:pt>
                <c:pt idx="27">
                  <c:v>56.142</c:v>
                </c:pt>
                <c:pt idx="28">
                  <c:v>56.73</c:v>
                </c:pt>
                <c:pt idx="29">
                  <c:v>57.082</c:v>
                </c:pt>
                <c:pt idx="30">
                  <c:v>57.904</c:v>
                </c:pt>
                <c:pt idx="31">
                  <c:v>57.828</c:v>
                </c:pt>
                <c:pt idx="32">
                  <c:v>58.908</c:v>
                </c:pt>
                <c:pt idx="33">
                  <c:v>59.254</c:v>
                </c:pt>
                <c:pt idx="34">
                  <c:v>59.788</c:v>
                </c:pt>
                <c:pt idx="35">
                  <c:v>60.534</c:v>
                </c:pt>
                <c:pt idx="36">
                  <c:v>60.688</c:v>
                </c:pt>
                <c:pt idx="37">
                  <c:v>61.468</c:v>
                </c:pt>
                <c:pt idx="38">
                  <c:v>62.162</c:v>
                </c:pt>
                <c:pt idx="39">
                  <c:v>62.652</c:v>
                </c:pt>
                <c:pt idx="40">
                  <c:v>63.116</c:v>
                </c:pt>
                <c:pt idx="41">
                  <c:v>63.81</c:v>
                </c:pt>
                <c:pt idx="42">
                  <c:v>64.122</c:v>
                </c:pt>
                <c:pt idx="43">
                  <c:v>64.822</c:v>
                </c:pt>
                <c:pt idx="44">
                  <c:v>64.928</c:v>
                </c:pt>
                <c:pt idx="45">
                  <c:v>65.94</c:v>
                </c:pt>
                <c:pt idx="46">
                  <c:v>65.628</c:v>
                </c:pt>
                <c:pt idx="47">
                  <c:v>67.246</c:v>
                </c:pt>
                <c:pt idx="48">
                  <c:v>67.154</c:v>
                </c:pt>
                <c:pt idx="49">
                  <c:v>68.026</c:v>
                </c:pt>
                <c:pt idx="50">
                  <c:v>68.592</c:v>
                </c:pt>
                <c:pt idx="51">
                  <c:v>69.318</c:v>
                </c:pt>
                <c:pt idx="52">
                  <c:v>69.862</c:v>
                </c:pt>
                <c:pt idx="53">
                  <c:v>69.902</c:v>
                </c:pt>
                <c:pt idx="54">
                  <c:v>70.964</c:v>
                </c:pt>
                <c:pt idx="55">
                  <c:v>71.546</c:v>
                </c:pt>
                <c:pt idx="56">
                  <c:v>72.054</c:v>
                </c:pt>
                <c:pt idx="57">
                  <c:v>72.718</c:v>
                </c:pt>
                <c:pt idx="58">
                  <c:v>72.774</c:v>
                </c:pt>
                <c:pt idx="59">
                  <c:v>73.39</c:v>
                </c:pt>
                <c:pt idx="60">
                  <c:v>73.794</c:v>
                </c:pt>
                <c:pt idx="61">
                  <c:v>74.938</c:v>
                </c:pt>
                <c:pt idx="62">
                  <c:v>75.124</c:v>
                </c:pt>
                <c:pt idx="63">
                  <c:v>75.708</c:v>
                </c:pt>
                <c:pt idx="64">
                  <c:v>76.068</c:v>
                </c:pt>
                <c:pt idx="65">
                  <c:v>76.954</c:v>
                </c:pt>
                <c:pt idx="66">
                  <c:v>77.576</c:v>
                </c:pt>
                <c:pt idx="67">
                  <c:v>77.734</c:v>
                </c:pt>
                <c:pt idx="68">
                  <c:v>78.764</c:v>
                </c:pt>
                <c:pt idx="69">
                  <c:v>78.962</c:v>
                </c:pt>
                <c:pt idx="70">
                  <c:v>79.226</c:v>
                </c:pt>
                <c:pt idx="71">
                  <c:v>79.696</c:v>
                </c:pt>
                <c:pt idx="72">
                  <c:v>80.932</c:v>
                </c:pt>
                <c:pt idx="73">
                  <c:v>81.006</c:v>
                </c:pt>
                <c:pt idx="74">
                  <c:v>81.582</c:v>
                </c:pt>
                <c:pt idx="75">
                  <c:v>82.038</c:v>
                </c:pt>
                <c:pt idx="76">
                  <c:v>82.126</c:v>
                </c:pt>
                <c:pt idx="77">
                  <c:v>83.358</c:v>
                </c:pt>
                <c:pt idx="78">
                  <c:v>83.414</c:v>
                </c:pt>
                <c:pt idx="79">
                  <c:v>84.084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'Chart Data'!$L$1</c:f>
              <c:strCache>
                <c:ptCount val="1"/>
                <c:pt idx="0">
                  <c:v>MLP 测试</c:v>
                </c:pt>
              </c:strCache>
            </c:strRef>
          </c:tx>
          <c:spPr>
            <a:ln w="23813" cap="rnd">
              <a:solidFill>
                <a:srgbClr val="7C8B2B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Data'!$K$2:$K$81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Data'!$L$2:$L$81</c:f>
              <c:numCache>
                <c:formatCode>0</c:formatCode>
                <c:ptCount val="80"/>
                <c:pt idx="0">
                  <c:v>23.01</c:v>
                </c:pt>
                <c:pt idx="1">
                  <c:v>29.21</c:v>
                </c:pt>
                <c:pt idx="2">
                  <c:v>35.03</c:v>
                </c:pt>
                <c:pt idx="3">
                  <c:v>35.78</c:v>
                </c:pt>
                <c:pt idx="4">
                  <c:v>31.91</c:v>
                </c:pt>
                <c:pt idx="5">
                  <c:v>38.47</c:v>
                </c:pt>
                <c:pt idx="6">
                  <c:v>37.72</c:v>
                </c:pt>
                <c:pt idx="7">
                  <c:v>36.32</c:v>
                </c:pt>
                <c:pt idx="8">
                  <c:v>42.92</c:v>
                </c:pt>
                <c:pt idx="9">
                  <c:v>44.23</c:v>
                </c:pt>
                <c:pt idx="10">
                  <c:v>44.52</c:v>
                </c:pt>
                <c:pt idx="11">
                  <c:v>43.88</c:v>
                </c:pt>
                <c:pt idx="12">
                  <c:v>45.61</c:v>
                </c:pt>
                <c:pt idx="13">
                  <c:v>46.77</c:v>
                </c:pt>
                <c:pt idx="14">
                  <c:v>41.74</c:v>
                </c:pt>
                <c:pt idx="15">
                  <c:v>44.24</c:v>
                </c:pt>
                <c:pt idx="16">
                  <c:v>45.88</c:v>
                </c:pt>
                <c:pt idx="17">
                  <c:v>43.38</c:v>
                </c:pt>
                <c:pt idx="18">
                  <c:v>44.5</c:v>
                </c:pt>
                <c:pt idx="19">
                  <c:v>45.75</c:v>
                </c:pt>
                <c:pt idx="20">
                  <c:v>45.21</c:v>
                </c:pt>
                <c:pt idx="21">
                  <c:v>43.31</c:v>
                </c:pt>
                <c:pt idx="22">
                  <c:v>47.26</c:v>
                </c:pt>
                <c:pt idx="23">
                  <c:v>45.95</c:v>
                </c:pt>
                <c:pt idx="24">
                  <c:v>43.61</c:v>
                </c:pt>
                <c:pt idx="25">
                  <c:v>46.6</c:v>
                </c:pt>
                <c:pt idx="26">
                  <c:v>47.57</c:v>
                </c:pt>
                <c:pt idx="27">
                  <c:v>47.02</c:v>
                </c:pt>
                <c:pt idx="28">
                  <c:v>51.23</c:v>
                </c:pt>
                <c:pt idx="29">
                  <c:v>49.17</c:v>
                </c:pt>
                <c:pt idx="30">
                  <c:v>48.72</c:v>
                </c:pt>
                <c:pt idx="31">
                  <c:v>50.37</c:v>
                </c:pt>
                <c:pt idx="32">
                  <c:v>45.13</c:v>
                </c:pt>
                <c:pt idx="33">
                  <c:v>50.44</c:v>
                </c:pt>
                <c:pt idx="34">
                  <c:v>48.96</c:v>
                </c:pt>
                <c:pt idx="35">
                  <c:v>52.53</c:v>
                </c:pt>
                <c:pt idx="36">
                  <c:v>50.25</c:v>
                </c:pt>
                <c:pt idx="37">
                  <c:v>51.4</c:v>
                </c:pt>
                <c:pt idx="38">
                  <c:v>47.94</c:v>
                </c:pt>
                <c:pt idx="39">
                  <c:v>46.16</c:v>
                </c:pt>
                <c:pt idx="40">
                  <c:v>48.77</c:v>
                </c:pt>
                <c:pt idx="41">
                  <c:v>47.85</c:v>
                </c:pt>
                <c:pt idx="42">
                  <c:v>51.25</c:v>
                </c:pt>
                <c:pt idx="43">
                  <c:v>49.65</c:v>
                </c:pt>
                <c:pt idx="44">
                  <c:v>52.24</c:v>
                </c:pt>
                <c:pt idx="45">
                  <c:v>48.95</c:v>
                </c:pt>
                <c:pt idx="46">
                  <c:v>48.93</c:v>
                </c:pt>
                <c:pt idx="47">
                  <c:v>49.75</c:v>
                </c:pt>
                <c:pt idx="48">
                  <c:v>50.03</c:v>
                </c:pt>
                <c:pt idx="49">
                  <c:v>50.56</c:v>
                </c:pt>
                <c:pt idx="50">
                  <c:v>46.21</c:v>
                </c:pt>
                <c:pt idx="51">
                  <c:v>49.29</c:v>
                </c:pt>
                <c:pt idx="52">
                  <c:v>50.54</c:v>
                </c:pt>
                <c:pt idx="53">
                  <c:v>50.21</c:v>
                </c:pt>
                <c:pt idx="54">
                  <c:v>48.08</c:v>
                </c:pt>
                <c:pt idx="55">
                  <c:v>47.84</c:v>
                </c:pt>
                <c:pt idx="56">
                  <c:v>50.56</c:v>
                </c:pt>
                <c:pt idx="57">
                  <c:v>46.26</c:v>
                </c:pt>
                <c:pt idx="58">
                  <c:v>50.45</c:v>
                </c:pt>
                <c:pt idx="59">
                  <c:v>47.02</c:v>
                </c:pt>
                <c:pt idx="60">
                  <c:v>46.3</c:v>
                </c:pt>
                <c:pt idx="61">
                  <c:v>46.07</c:v>
                </c:pt>
                <c:pt idx="62">
                  <c:v>48.33</c:v>
                </c:pt>
                <c:pt idx="63">
                  <c:v>50.72</c:v>
                </c:pt>
                <c:pt idx="64">
                  <c:v>48.57</c:v>
                </c:pt>
                <c:pt idx="65">
                  <c:v>51.67</c:v>
                </c:pt>
                <c:pt idx="66">
                  <c:v>49.47</c:v>
                </c:pt>
                <c:pt idx="67">
                  <c:v>51.18</c:v>
                </c:pt>
                <c:pt idx="68">
                  <c:v>49.87</c:v>
                </c:pt>
                <c:pt idx="69">
                  <c:v>50.16</c:v>
                </c:pt>
                <c:pt idx="70">
                  <c:v>43.5</c:v>
                </c:pt>
                <c:pt idx="71">
                  <c:v>50.7</c:v>
                </c:pt>
                <c:pt idx="72">
                  <c:v>48.45</c:v>
                </c:pt>
                <c:pt idx="73">
                  <c:v>52.32</c:v>
                </c:pt>
                <c:pt idx="74">
                  <c:v>49.51</c:v>
                </c:pt>
                <c:pt idx="75">
                  <c:v>49.26</c:v>
                </c:pt>
                <c:pt idx="76">
                  <c:v>47.5</c:v>
                </c:pt>
                <c:pt idx="77">
                  <c:v>47.11</c:v>
                </c:pt>
                <c:pt idx="78">
                  <c:v>49.52</c:v>
                </c:pt>
                <c:pt idx="79">
                  <c:v>44.69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Epoch</a:t>
                </a:r>
                <a:endParaRPr sz="1425">
                  <a:latin typeface="Arial" panose="020B0604020202090204"/>
                  <a:ea typeface="Arial" panose="020B0604020202090204"/>
                  <a:cs typeface="Arial" panose="020B0604020202090204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6666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</a:p>
        </c:txPr>
        <c:crossAx val="48672768"/>
        <c:crosses val="autoZero"/>
        <c:auto val="1"/>
        <c:lblAlgn val="ctr"/>
        <c:lblOffset val="100"/>
        <c:tickLblSkip val="1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准确率 (%)</a:t>
                </a:r>
                <a:endParaRPr sz="1425">
                  <a:latin typeface="Arial" panose="020B0604020202090204"/>
                  <a:ea typeface="Arial" panose="020B0604020202090204"/>
                  <a:cs typeface="Arial" panose="020B0604020202090204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666666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  <a:ln w="0">
          <a:noFill/>
        </a:ln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75" b="0" i="0" u="none" strike="noStrike" kern="1200" baseline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0ac6e43-40a0-4138-a173-e77e5358e956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ResNet-18 训练</c:v>
                </c:pt>
              </c:strCache>
            </c:strRef>
          </c:tx>
          <c:spPr>
            <a:ln w="23813" cap="rnd">
              <a:solidFill>
                <a:srgbClr val="2B66B5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Data'!$A$2:$A$81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Data'!$B$2:$B$81</c:f>
              <c:numCache>
                <c:formatCode>0.0</c:formatCode>
                <c:ptCount val="80"/>
                <c:pt idx="0">
                  <c:v>1.77790172977448</c:v>
                </c:pt>
                <c:pt idx="1">
                  <c:v>1.49798228187561</c:v>
                </c:pt>
                <c:pt idx="2">
                  <c:v>1.30576510135651</c:v>
                </c:pt>
                <c:pt idx="3">
                  <c:v>1.11209906433105</c:v>
                </c:pt>
                <c:pt idx="4">
                  <c:v>0.984776721191406</c:v>
                </c:pt>
                <c:pt idx="5">
                  <c:v>0.926540084133148</c:v>
                </c:pt>
                <c:pt idx="6">
                  <c:v>0.846189683132172</c:v>
                </c:pt>
                <c:pt idx="7">
                  <c:v>0.810640084247589</c:v>
                </c:pt>
                <c:pt idx="8">
                  <c:v>0.771173362998962</c:v>
                </c:pt>
                <c:pt idx="9">
                  <c:v>0.732497983970642</c:v>
                </c:pt>
                <c:pt idx="10">
                  <c:v>0.69307507642746</c:v>
                </c:pt>
                <c:pt idx="11">
                  <c:v>0.667971561698914</c:v>
                </c:pt>
                <c:pt idx="12">
                  <c:v>0.646346956825256</c:v>
                </c:pt>
                <c:pt idx="13">
                  <c:v>0.621064861469269</c:v>
                </c:pt>
                <c:pt idx="14">
                  <c:v>0.59270877822876</c:v>
                </c:pt>
                <c:pt idx="15">
                  <c:v>0.582148287124634</c:v>
                </c:pt>
                <c:pt idx="16">
                  <c:v>0.558866003723145</c:v>
                </c:pt>
                <c:pt idx="17">
                  <c:v>0.549973023414612</c:v>
                </c:pt>
                <c:pt idx="18">
                  <c:v>0.532601780757904</c:v>
                </c:pt>
                <c:pt idx="19">
                  <c:v>0.512289985637665</c:v>
                </c:pt>
                <c:pt idx="20">
                  <c:v>0.507270276136398</c:v>
                </c:pt>
                <c:pt idx="21">
                  <c:v>0.482414362373352</c:v>
                </c:pt>
                <c:pt idx="22">
                  <c:v>0.47469803686142</c:v>
                </c:pt>
                <c:pt idx="23">
                  <c:v>0.466072653264999</c:v>
                </c:pt>
                <c:pt idx="24">
                  <c:v>0.443116208457947</c:v>
                </c:pt>
                <c:pt idx="25">
                  <c:v>0.439409304904938</c:v>
                </c:pt>
                <c:pt idx="26">
                  <c:v>0.427878484039307</c:v>
                </c:pt>
                <c:pt idx="27">
                  <c:v>0.414479202823639</c:v>
                </c:pt>
                <c:pt idx="28">
                  <c:v>0.398767040100098</c:v>
                </c:pt>
                <c:pt idx="29">
                  <c:v>0.403126966581345</c:v>
                </c:pt>
                <c:pt idx="30">
                  <c:v>0.388623137865067</c:v>
                </c:pt>
                <c:pt idx="31">
                  <c:v>0.378093775377274</c:v>
                </c:pt>
                <c:pt idx="32">
                  <c:v>0.3676519135952</c:v>
                </c:pt>
                <c:pt idx="33">
                  <c:v>0.362328323640823</c:v>
                </c:pt>
                <c:pt idx="34">
                  <c:v>0.346638368053436</c:v>
                </c:pt>
                <c:pt idx="35">
                  <c:v>0.346714779701233</c:v>
                </c:pt>
                <c:pt idx="36">
                  <c:v>0.338982434539795</c:v>
                </c:pt>
                <c:pt idx="37">
                  <c:v>0.325030788297653</c:v>
                </c:pt>
                <c:pt idx="38">
                  <c:v>0.318511329202652</c:v>
                </c:pt>
                <c:pt idx="39">
                  <c:v>0.314823307352066</c:v>
                </c:pt>
                <c:pt idx="40">
                  <c:v>0.309126691799164</c:v>
                </c:pt>
                <c:pt idx="41">
                  <c:v>0.303561378736496</c:v>
                </c:pt>
                <c:pt idx="42">
                  <c:v>0.300793353624344</c:v>
                </c:pt>
                <c:pt idx="43">
                  <c:v>0.290394887933731</c:v>
                </c:pt>
                <c:pt idx="44">
                  <c:v>0.284581535768509</c:v>
                </c:pt>
                <c:pt idx="45">
                  <c:v>0.279840570702553</c:v>
                </c:pt>
                <c:pt idx="46">
                  <c:v>0.272403404855728</c:v>
                </c:pt>
                <c:pt idx="47">
                  <c:v>0.259262736978531</c:v>
                </c:pt>
                <c:pt idx="48">
                  <c:v>0.201298251085281</c:v>
                </c:pt>
                <c:pt idx="49">
                  <c:v>0.165536943280697</c:v>
                </c:pt>
                <c:pt idx="50">
                  <c:v>0.157642143778801</c:v>
                </c:pt>
                <c:pt idx="51">
                  <c:v>0.145735122685432</c:v>
                </c:pt>
                <c:pt idx="52">
                  <c:v>0.1406621494627</c:v>
                </c:pt>
                <c:pt idx="53">
                  <c:v>0.137300937814713</c:v>
                </c:pt>
                <c:pt idx="54">
                  <c:v>0.128214435722828</c:v>
                </c:pt>
                <c:pt idx="55">
                  <c:v>0.125880503458977</c:v>
                </c:pt>
                <c:pt idx="56">
                  <c:v>0.122838547959328</c:v>
                </c:pt>
                <c:pt idx="57">
                  <c:v>0.118870320198536</c:v>
                </c:pt>
                <c:pt idx="58">
                  <c:v>0.11531752592802</c:v>
                </c:pt>
                <c:pt idx="59">
                  <c:v>0.110815876188278</c:v>
                </c:pt>
                <c:pt idx="60">
                  <c:v>0.112798877654076</c:v>
                </c:pt>
                <c:pt idx="61">
                  <c:v>0.110461639266014</c:v>
                </c:pt>
                <c:pt idx="62">
                  <c:v>0.103243653879166</c:v>
                </c:pt>
                <c:pt idx="63">
                  <c:v>0.101849880318642</c:v>
                </c:pt>
                <c:pt idx="64">
                  <c:v>0.0980798831176758</c:v>
                </c:pt>
                <c:pt idx="65">
                  <c:v>0.0953183931207657</c:v>
                </c:pt>
                <c:pt idx="66">
                  <c:v>0.0927611211562157</c:v>
                </c:pt>
                <c:pt idx="67">
                  <c:v>0.091057188436985</c:v>
                </c:pt>
                <c:pt idx="68">
                  <c:v>0.0900203206205368</c:v>
                </c:pt>
                <c:pt idx="69">
                  <c:v>0.0920239135789871</c:v>
                </c:pt>
                <c:pt idx="70">
                  <c:v>0.089390137887001</c:v>
                </c:pt>
                <c:pt idx="71">
                  <c:v>0.0901894555616379</c:v>
                </c:pt>
                <c:pt idx="72">
                  <c:v>0.0903485798978806</c:v>
                </c:pt>
                <c:pt idx="73">
                  <c:v>0.0912834279751778</c:v>
                </c:pt>
                <c:pt idx="74">
                  <c:v>0.0895092120838165</c:v>
                </c:pt>
                <c:pt idx="75">
                  <c:v>0.087737996237278</c:v>
                </c:pt>
                <c:pt idx="76">
                  <c:v>0.0882718143153191</c:v>
                </c:pt>
                <c:pt idx="77">
                  <c:v>0.0887556082320213</c:v>
                </c:pt>
                <c:pt idx="78">
                  <c:v>0.0875578691780567</c:v>
                </c:pt>
                <c:pt idx="79">
                  <c:v>0.0870082632231712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'Chart Data'!$D$1</c:f>
              <c:strCache>
                <c:ptCount val="1"/>
                <c:pt idx="0">
                  <c:v>ResNet-18 测试</c:v>
                </c:pt>
              </c:strCache>
            </c:strRef>
          </c:tx>
          <c:spPr>
            <a:ln w="23813" cap="rnd">
              <a:solidFill>
                <a:srgbClr val="2B66B5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Data'!$C$2:$C$81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Data'!$D$2:$D$81</c:f>
              <c:numCache>
                <c:formatCode>0.0</c:formatCode>
                <c:ptCount val="80"/>
                <c:pt idx="0">
                  <c:v>1.51732650737762</c:v>
                </c:pt>
                <c:pt idx="1">
                  <c:v>1.49165029716492</c:v>
                </c:pt>
                <c:pt idx="2">
                  <c:v>1.26039238262177</c:v>
                </c:pt>
                <c:pt idx="3">
                  <c:v>1.05595959377289</c:v>
                </c:pt>
                <c:pt idx="4">
                  <c:v>0.98263324508667</c:v>
                </c:pt>
                <c:pt idx="5">
                  <c:v>0.966427668571472</c:v>
                </c:pt>
                <c:pt idx="6">
                  <c:v>0.840158359909058</c:v>
                </c:pt>
                <c:pt idx="7">
                  <c:v>0.861491944694519</c:v>
                </c:pt>
                <c:pt idx="8">
                  <c:v>0.813067621803284</c:v>
                </c:pt>
                <c:pt idx="9">
                  <c:v>0.748794940471649</c:v>
                </c:pt>
                <c:pt idx="10">
                  <c:v>0.828170565414429</c:v>
                </c:pt>
                <c:pt idx="11">
                  <c:v>0.723896630191803</c:v>
                </c:pt>
                <c:pt idx="12">
                  <c:v>0.66570003118515</c:v>
                </c:pt>
                <c:pt idx="13">
                  <c:v>0.675410079288483</c:v>
                </c:pt>
                <c:pt idx="14">
                  <c:v>0.660822546672821</c:v>
                </c:pt>
                <c:pt idx="15">
                  <c:v>0.697414066791534</c:v>
                </c:pt>
                <c:pt idx="16">
                  <c:v>0.701606472110748</c:v>
                </c:pt>
                <c:pt idx="17">
                  <c:v>0.665281519126892</c:v>
                </c:pt>
                <c:pt idx="18">
                  <c:v>0.694138052654266</c:v>
                </c:pt>
                <c:pt idx="19">
                  <c:v>0.657050479888916</c:v>
                </c:pt>
                <c:pt idx="20">
                  <c:v>0.711954261016846</c:v>
                </c:pt>
                <c:pt idx="21">
                  <c:v>0.685309264469147</c:v>
                </c:pt>
                <c:pt idx="22">
                  <c:v>0.686253471851349</c:v>
                </c:pt>
                <c:pt idx="23">
                  <c:v>0.681936657905579</c:v>
                </c:pt>
                <c:pt idx="24">
                  <c:v>0.62106296377182</c:v>
                </c:pt>
                <c:pt idx="25">
                  <c:v>0.609371374416351</c:v>
                </c:pt>
                <c:pt idx="26">
                  <c:v>0.650032430458069</c:v>
                </c:pt>
                <c:pt idx="27">
                  <c:v>0.627394512176514</c:v>
                </c:pt>
                <c:pt idx="28">
                  <c:v>0.635712457370758</c:v>
                </c:pt>
                <c:pt idx="29">
                  <c:v>0.597965877437592</c:v>
                </c:pt>
                <c:pt idx="30">
                  <c:v>0.593323646831512</c:v>
                </c:pt>
                <c:pt idx="31">
                  <c:v>0.644893998432159</c:v>
                </c:pt>
                <c:pt idx="32">
                  <c:v>0.581704636764526</c:v>
                </c:pt>
                <c:pt idx="33">
                  <c:v>0.611216961097717</c:v>
                </c:pt>
                <c:pt idx="34">
                  <c:v>0.601180076789856</c:v>
                </c:pt>
                <c:pt idx="35">
                  <c:v>0.629733411884308</c:v>
                </c:pt>
                <c:pt idx="36">
                  <c:v>0.612481966114044</c:v>
                </c:pt>
                <c:pt idx="37">
                  <c:v>0.639075592803955</c:v>
                </c:pt>
                <c:pt idx="38">
                  <c:v>0.646078809738159</c:v>
                </c:pt>
                <c:pt idx="39">
                  <c:v>0.629602527618408</c:v>
                </c:pt>
                <c:pt idx="40">
                  <c:v>0.625619863319397</c:v>
                </c:pt>
                <c:pt idx="41">
                  <c:v>0.600825663280487</c:v>
                </c:pt>
                <c:pt idx="42">
                  <c:v>0.652157211208343</c:v>
                </c:pt>
                <c:pt idx="43">
                  <c:v>0.630398987102509</c:v>
                </c:pt>
                <c:pt idx="44">
                  <c:v>0.623076062488556</c:v>
                </c:pt>
                <c:pt idx="45">
                  <c:v>0.682873518180847</c:v>
                </c:pt>
                <c:pt idx="46">
                  <c:v>0.616502015781403</c:v>
                </c:pt>
                <c:pt idx="47">
                  <c:v>0.703300660800934</c:v>
                </c:pt>
                <c:pt idx="48">
                  <c:v>0.550094820213318</c:v>
                </c:pt>
                <c:pt idx="49">
                  <c:v>0.560945586776733</c:v>
                </c:pt>
                <c:pt idx="50">
                  <c:v>0.571145208072662</c:v>
                </c:pt>
                <c:pt idx="51">
                  <c:v>0.58650984992981</c:v>
                </c:pt>
                <c:pt idx="52">
                  <c:v>0.589978452968597</c:v>
                </c:pt>
                <c:pt idx="53">
                  <c:v>0.599943783664703</c:v>
                </c:pt>
                <c:pt idx="54">
                  <c:v>0.606231473064423</c:v>
                </c:pt>
                <c:pt idx="55">
                  <c:v>0.616329055690765</c:v>
                </c:pt>
                <c:pt idx="56">
                  <c:v>0.616481977939606</c:v>
                </c:pt>
                <c:pt idx="57">
                  <c:v>0.630148224639893</c:v>
                </c:pt>
                <c:pt idx="58">
                  <c:v>0.638842930221558</c:v>
                </c:pt>
                <c:pt idx="59">
                  <c:v>0.649428884315491</c:v>
                </c:pt>
                <c:pt idx="60">
                  <c:v>0.647961883831024</c:v>
                </c:pt>
                <c:pt idx="61">
                  <c:v>0.664839070701599</c:v>
                </c:pt>
                <c:pt idx="62">
                  <c:v>0.664876307582855</c:v>
                </c:pt>
                <c:pt idx="63">
                  <c:v>0.680237549877167</c:v>
                </c:pt>
                <c:pt idx="64">
                  <c:v>0.672201013374329</c:v>
                </c:pt>
                <c:pt idx="65">
                  <c:v>0.67090935716629</c:v>
                </c:pt>
                <c:pt idx="66">
                  <c:v>0.674777149200439</c:v>
                </c:pt>
                <c:pt idx="67">
                  <c:v>0.678186349487305</c:v>
                </c:pt>
                <c:pt idx="68">
                  <c:v>0.676351623725891</c:v>
                </c:pt>
                <c:pt idx="69">
                  <c:v>0.676577958488464</c:v>
                </c:pt>
                <c:pt idx="70">
                  <c:v>0.679931174182892</c:v>
                </c:pt>
                <c:pt idx="71">
                  <c:v>0.682753593921661</c:v>
                </c:pt>
                <c:pt idx="72">
                  <c:v>0.678786858558655</c:v>
                </c:pt>
                <c:pt idx="73">
                  <c:v>0.682961511707306</c:v>
                </c:pt>
                <c:pt idx="74">
                  <c:v>0.685494330596924</c:v>
                </c:pt>
                <c:pt idx="75">
                  <c:v>0.684473820114136</c:v>
                </c:pt>
                <c:pt idx="76">
                  <c:v>0.688471312141418</c:v>
                </c:pt>
                <c:pt idx="77">
                  <c:v>0.682932701587677</c:v>
                </c:pt>
                <c:pt idx="78">
                  <c:v>0.690602145862579</c:v>
                </c:pt>
                <c:pt idx="79">
                  <c:v>0.690518534088135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'Chart Data'!$F$1</c:f>
              <c:strCache>
                <c:ptCount val="1"/>
                <c:pt idx="0">
                  <c:v>CNN 训练</c:v>
                </c:pt>
              </c:strCache>
            </c:strRef>
          </c:tx>
          <c:spPr>
            <a:ln w="23813" cap="rnd">
              <a:solidFill>
                <a:srgbClr val="D078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Data'!$E$2:$E$81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Data'!$F$2:$F$81</c:f>
              <c:numCache>
                <c:formatCode>0.0</c:formatCode>
                <c:ptCount val="80"/>
                <c:pt idx="0">
                  <c:v>2.13945465877533</c:v>
                </c:pt>
                <c:pt idx="1">
                  <c:v>1.86150080291748</c:v>
                </c:pt>
                <c:pt idx="2">
                  <c:v>1.66865340362549</c:v>
                </c:pt>
                <c:pt idx="3">
                  <c:v>1.55011667720795</c:v>
                </c:pt>
                <c:pt idx="4">
                  <c:v>1.4787897889328</c:v>
                </c:pt>
                <c:pt idx="5">
                  <c:v>1.4276914812088</c:v>
                </c:pt>
                <c:pt idx="6">
                  <c:v>1.37541473560333</c:v>
                </c:pt>
                <c:pt idx="7">
                  <c:v>1.33863090930939</c:v>
                </c:pt>
                <c:pt idx="8">
                  <c:v>1.29850327041626</c:v>
                </c:pt>
                <c:pt idx="9">
                  <c:v>1.26673419948578</c:v>
                </c:pt>
                <c:pt idx="10">
                  <c:v>1.235175025177</c:v>
                </c:pt>
                <c:pt idx="11">
                  <c:v>1.20366588184357</c:v>
                </c:pt>
                <c:pt idx="12">
                  <c:v>1.1779024772644</c:v>
                </c:pt>
                <c:pt idx="13">
                  <c:v>1.14553317932129</c:v>
                </c:pt>
                <c:pt idx="14">
                  <c:v>1.13064342956543</c:v>
                </c:pt>
                <c:pt idx="15">
                  <c:v>1.09915377407074</c:v>
                </c:pt>
                <c:pt idx="16">
                  <c:v>1.07513202217102</c:v>
                </c:pt>
                <c:pt idx="17">
                  <c:v>1.06033971084595</c:v>
                </c:pt>
                <c:pt idx="18">
                  <c:v>1.03531149299622</c:v>
                </c:pt>
                <c:pt idx="19">
                  <c:v>1.01573039428711</c:v>
                </c:pt>
                <c:pt idx="20">
                  <c:v>0.992043970146179</c:v>
                </c:pt>
                <c:pt idx="21">
                  <c:v>0.974262759780884</c:v>
                </c:pt>
                <c:pt idx="22">
                  <c:v>0.959319723777771</c:v>
                </c:pt>
                <c:pt idx="23">
                  <c:v>0.935763191413879</c:v>
                </c:pt>
                <c:pt idx="24">
                  <c:v>0.918993490943909</c:v>
                </c:pt>
                <c:pt idx="25">
                  <c:v>0.8955767228508</c:v>
                </c:pt>
                <c:pt idx="26">
                  <c:v>0.885389486064911</c:v>
                </c:pt>
                <c:pt idx="27">
                  <c:v>0.858706108875275</c:v>
                </c:pt>
                <c:pt idx="28">
                  <c:v>0.847223628501892</c:v>
                </c:pt>
                <c:pt idx="29">
                  <c:v>0.831437211608887</c:v>
                </c:pt>
                <c:pt idx="30">
                  <c:v>0.812423986949921</c:v>
                </c:pt>
                <c:pt idx="31">
                  <c:v>0.810934938716888</c:v>
                </c:pt>
                <c:pt idx="32">
                  <c:v>0.784373423538208</c:v>
                </c:pt>
                <c:pt idx="33">
                  <c:v>0.773037286567688</c:v>
                </c:pt>
                <c:pt idx="34">
                  <c:v>0.753306356582642</c:v>
                </c:pt>
                <c:pt idx="35">
                  <c:v>0.737920630836487</c:v>
                </c:pt>
                <c:pt idx="36">
                  <c:v>0.726321341056824</c:v>
                </c:pt>
                <c:pt idx="37">
                  <c:v>0.7113126795578</c:v>
                </c:pt>
                <c:pt idx="38">
                  <c:v>0.702650616874695</c:v>
                </c:pt>
                <c:pt idx="39">
                  <c:v>0.684304803915024</c:v>
                </c:pt>
                <c:pt idx="40">
                  <c:v>0.676016175823212</c:v>
                </c:pt>
                <c:pt idx="41">
                  <c:v>0.649291073303223</c:v>
                </c:pt>
                <c:pt idx="42">
                  <c:v>0.655369251174927</c:v>
                </c:pt>
                <c:pt idx="43">
                  <c:v>0.634883877372742</c:v>
                </c:pt>
                <c:pt idx="44">
                  <c:v>0.614064912166595</c:v>
                </c:pt>
                <c:pt idx="45">
                  <c:v>0.611332964897156</c:v>
                </c:pt>
                <c:pt idx="46">
                  <c:v>0.592350050563812</c:v>
                </c:pt>
                <c:pt idx="47">
                  <c:v>0.585276336402893</c:v>
                </c:pt>
                <c:pt idx="48">
                  <c:v>0.570486441335678</c:v>
                </c:pt>
                <c:pt idx="49">
                  <c:v>0.570597976531982</c:v>
                </c:pt>
                <c:pt idx="50">
                  <c:v>0.564470756187439</c:v>
                </c:pt>
                <c:pt idx="51">
                  <c:v>0.542455709953308</c:v>
                </c:pt>
                <c:pt idx="52">
                  <c:v>0.5270814245224</c:v>
                </c:pt>
                <c:pt idx="53">
                  <c:v>0.52197027923584</c:v>
                </c:pt>
                <c:pt idx="54">
                  <c:v>0.520835449504852</c:v>
                </c:pt>
                <c:pt idx="55">
                  <c:v>0.502370710334778</c:v>
                </c:pt>
                <c:pt idx="56">
                  <c:v>0.494503805484772</c:v>
                </c:pt>
                <c:pt idx="57">
                  <c:v>0.494656319360733</c:v>
                </c:pt>
                <c:pt idx="58">
                  <c:v>0.470270140266418</c:v>
                </c:pt>
                <c:pt idx="59">
                  <c:v>0.476892484588623</c:v>
                </c:pt>
                <c:pt idx="60">
                  <c:v>0.499003741998672</c:v>
                </c:pt>
                <c:pt idx="61">
                  <c:v>0.432871149129868</c:v>
                </c:pt>
                <c:pt idx="62">
                  <c:v>0.448915568408966</c:v>
                </c:pt>
                <c:pt idx="63">
                  <c:v>0.414792303295136</c:v>
                </c:pt>
                <c:pt idx="64">
                  <c:v>0.439338567581177</c:v>
                </c:pt>
                <c:pt idx="65">
                  <c:v>0.430765326156616</c:v>
                </c:pt>
                <c:pt idx="66">
                  <c:v>0.409243547077179</c:v>
                </c:pt>
                <c:pt idx="67">
                  <c:v>0.394441773052216</c:v>
                </c:pt>
                <c:pt idx="68">
                  <c:v>0.41081306968689</c:v>
                </c:pt>
                <c:pt idx="69">
                  <c:v>0.376716060628891</c:v>
                </c:pt>
                <c:pt idx="70">
                  <c:v>0.371375581197739</c:v>
                </c:pt>
                <c:pt idx="71">
                  <c:v>0.386214940013886</c:v>
                </c:pt>
                <c:pt idx="72">
                  <c:v>0.388946276950836</c:v>
                </c:pt>
                <c:pt idx="73">
                  <c:v>0.361489368419647</c:v>
                </c:pt>
                <c:pt idx="74">
                  <c:v>0.347704379053116</c:v>
                </c:pt>
                <c:pt idx="75">
                  <c:v>0.350294325656891</c:v>
                </c:pt>
                <c:pt idx="76">
                  <c:v>0.356235624847412</c:v>
                </c:pt>
                <c:pt idx="77">
                  <c:v>0.328848013935089</c:v>
                </c:pt>
                <c:pt idx="78">
                  <c:v>0.329147030849457</c:v>
                </c:pt>
                <c:pt idx="79">
                  <c:v>0.357334893131256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'Chart Data'!$H$1</c:f>
              <c:strCache>
                <c:ptCount val="1"/>
                <c:pt idx="0">
                  <c:v>CNN 测试</c:v>
                </c:pt>
              </c:strCache>
            </c:strRef>
          </c:tx>
          <c:spPr>
            <a:ln w="23813" cap="rnd">
              <a:solidFill>
                <a:srgbClr val="D0782B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Data'!$G$2:$G$81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Data'!$H$2:$H$81</c:f>
              <c:numCache>
                <c:formatCode>0.0</c:formatCode>
                <c:ptCount val="80"/>
                <c:pt idx="0">
                  <c:v>1.94624172744751</c:v>
                </c:pt>
                <c:pt idx="1">
                  <c:v>1.73719644432068</c:v>
                </c:pt>
                <c:pt idx="2">
                  <c:v>1.6078620557785</c:v>
                </c:pt>
                <c:pt idx="3">
                  <c:v>1.53890484237671</c:v>
                </c:pt>
                <c:pt idx="4">
                  <c:v>1.46503813114166</c:v>
                </c:pt>
                <c:pt idx="5">
                  <c:v>1.41660409393311</c:v>
                </c:pt>
                <c:pt idx="6">
                  <c:v>1.43411273612976</c:v>
                </c:pt>
                <c:pt idx="7">
                  <c:v>1.45260608215332</c:v>
                </c:pt>
                <c:pt idx="8">
                  <c:v>1.3507595664978</c:v>
                </c:pt>
                <c:pt idx="9">
                  <c:v>1.45572686004639</c:v>
                </c:pt>
                <c:pt idx="10">
                  <c:v>1.29639709796906</c:v>
                </c:pt>
                <c:pt idx="11">
                  <c:v>1.30158309745789</c:v>
                </c:pt>
                <c:pt idx="12">
                  <c:v>1.27277087039948</c:v>
                </c:pt>
                <c:pt idx="13">
                  <c:v>1.26452125053406</c:v>
                </c:pt>
                <c:pt idx="14">
                  <c:v>1.30850488243103</c:v>
                </c:pt>
                <c:pt idx="15">
                  <c:v>1.31384497642517</c:v>
                </c:pt>
                <c:pt idx="16">
                  <c:v>1.31650873737335</c:v>
                </c:pt>
                <c:pt idx="17">
                  <c:v>1.33683281927109</c:v>
                </c:pt>
                <c:pt idx="18">
                  <c:v>1.39025702877045</c:v>
                </c:pt>
                <c:pt idx="19">
                  <c:v>1.25897284450531</c:v>
                </c:pt>
                <c:pt idx="20">
                  <c:v>1.31919092130661</c:v>
                </c:pt>
                <c:pt idx="21">
                  <c:v>1.47274008045197</c:v>
                </c:pt>
                <c:pt idx="22">
                  <c:v>1.28345782489777</c:v>
                </c:pt>
                <c:pt idx="23">
                  <c:v>1.33344375267029</c:v>
                </c:pt>
                <c:pt idx="24">
                  <c:v>1.31361952915192</c:v>
                </c:pt>
                <c:pt idx="25">
                  <c:v>1.31564992618561</c:v>
                </c:pt>
                <c:pt idx="26">
                  <c:v>1.3952826426506</c:v>
                </c:pt>
                <c:pt idx="27">
                  <c:v>1.51111557006836</c:v>
                </c:pt>
                <c:pt idx="28">
                  <c:v>1.35054173336029</c:v>
                </c:pt>
                <c:pt idx="29">
                  <c:v>1.34722624130249</c:v>
                </c:pt>
                <c:pt idx="30">
                  <c:v>1.44249021263123</c:v>
                </c:pt>
                <c:pt idx="31">
                  <c:v>1.32734773044586</c:v>
                </c:pt>
                <c:pt idx="32">
                  <c:v>1.43744077882767</c:v>
                </c:pt>
                <c:pt idx="33">
                  <c:v>1.40064059200287</c:v>
                </c:pt>
                <c:pt idx="34">
                  <c:v>1.45623286237717</c:v>
                </c:pt>
                <c:pt idx="35">
                  <c:v>1.42870823688507</c:v>
                </c:pt>
                <c:pt idx="36">
                  <c:v>1.34335893907547</c:v>
                </c:pt>
                <c:pt idx="37">
                  <c:v>1.41684091148376</c:v>
                </c:pt>
                <c:pt idx="38">
                  <c:v>1.43348247728348</c:v>
                </c:pt>
                <c:pt idx="39">
                  <c:v>1.39789479875565</c:v>
                </c:pt>
                <c:pt idx="40">
                  <c:v>1.49197982807159</c:v>
                </c:pt>
                <c:pt idx="41">
                  <c:v>1.56917405967712</c:v>
                </c:pt>
                <c:pt idx="42">
                  <c:v>1.48826232471466</c:v>
                </c:pt>
                <c:pt idx="43">
                  <c:v>1.60604375228882</c:v>
                </c:pt>
                <c:pt idx="44">
                  <c:v>1.60950219612122</c:v>
                </c:pt>
                <c:pt idx="45">
                  <c:v>1.61951422195435</c:v>
                </c:pt>
                <c:pt idx="46">
                  <c:v>1.74391035175323</c:v>
                </c:pt>
                <c:pt idx="47">
                  <c:v>1.79989349765778</c:v>
                </c:pt>
                <c:pt idx="48">
                  <c:v>1.63801110124588</c:v>
                </c:pt>
                <c:pt idx="49">
                  <c:v>1.60462719707489</c:v>
                </c:pt>
                <c:pt idx="50">
                  <c:v>1.9318057554245</c:v>
                </c:pt>
                <c:pt idx="51">
                  <c:v>1.80448972606659</c:v>
                </c:pt>
                <c:pt idx="52">
                  <c:v>1.88975514831543</c:v>
                </c:pt>
                <c:pt idx="53">
                  <c:v>1.88273884925842</c:v>
                </c:pt>
                <c:pt idx="54">
                  <c:v>1.8799779800415</c:v>
                </c:pt>
                <c:pt idx="55">
                  <c:v>1.93540280485153</c:v>
                </c:pt>
                <c:pt idx="56">
                  <c:v>1.8278863697052</c:v>
                </c:pt>
                <c:pt idx="57">
                  <c:v>1.80695941829681</c:v>
                </c:pt>
                <c:pt idx="58">
                  <c:v>2.05730993499756</c:v>
                </c:pt>
                <c:pt idx="59">
                  <c:v>2.2636147819519</c:v>
                </c:pt>
                <c:pt idx="60">
                  <c:v>1.79758790092468</c:v>
                </c:pt>
                <c:pt idx="61">
                  <c:v>1.99691557655334</c:v>
                </c:pt>
                <c:pt idx="62">
                  <c:v>1.98626514072418</c:v>
                </c:pt>
                <c:pt idx="63">
                  <c:v>2.03361814012527</c:v>
                </c:pt>
                <c:pt idx="64">
                  <c:v>2.20622036151886</c:v>
                </c:pt>
                <c:pt idx="65">
                  <c:v>2.16374575157166</c:v>
                </c:pt>
                <c:pt idx="66">
                  <c:v>2.13809090881348</c:v>
                </c:pt>
                <c:pt idx="67">
                  <c:v>2.10530471038818</c:v>
                </c:pt>
                <c:pt idx="68">
                  <c:v>2.16749474639893</c:v>
                </c:pt>
                <c:pt idx="69">
                  <c:v>2.35114347305298</c:v>
                </c:pt>
                <c:pt idx="70">
                  <c:v>2.48805128631592</c:v>
                </c:pt>
                <c:pt idx="71">
                  <c:v>2.32397856712341</c:v>
                </c:pt>
                <c:pt idx="72">
                  <c:v>2.39049580726624</c:v>
                </c:pt>
                <c:pt idx="73">
                  <c:v>2.57334315433502</c:v>
                </c:pt>
                <c:pt idx="74">
                  <c:v>2.67183298110962</c:v>
                </c:pt>
                <c:pt idx="75">
                  <c:v>2.34671116256714</c:v>
                </c:pt>
                <c:pt idx="76">
                  <c:v>2.61570460166931</c:v>
                </c:pt>
                <c:pt idx="77">
                  <c:v>2.68100026798248</c:v>
                </c:pt>
                <c:pt idx="78">
                  <c:v>2.53218643913269</c:v>
                </c:pt>
                <c:pt idx="79">
                  <c:v>2.51280123596191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'Chart Data'!$J$1</c:f>
              <c:strCache>
                <c:ptCount val="1"/>
                <c:pt idx="0">
                  <c:v>MLP 训练</c:v>
                </c:pt>
              </c:strCache>
            </c:strRef>
          </c:tx>
          <c:spPr>
            <a:ln w="23813" cap="rnd">
              <a:solidFill>
                <a:srgbClr val="7C8B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Data'!$I$2:$I$81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Data'!$J$2:$J$81</c:f>
              <c:numCache>
                <c:formatCode>0.0</c:formatCode>
                <c:ptCount val="80"/>
                <c:pt idx="0">
                  <c:v>2.18333935623169</c:v>
                </c:pt>
                <c:pt idx="1">
                  <c:v>1.97269401493073</c:v>
                </c:pt>
                <c:pt idx="2">
                  <c:v>1.86658780025482</c:v>
                </c:pt>
                <c:pt idx="3">
                  <c:v>1.79865839080811</c:v>
                </c:pt>
                <c:pt idx="4">
                  <c:v>1.74758574398041</c:v>
                </c:pt>
                <c:pt idx="5">
                  <c:v>1.70893219520569</c:v>
                </c:pt>
                <c:pt idx="6">
                  <c:v>1.66230323249817</c:v>
                </c:pt>
                <c:pt idx="7">
                  <c:v>1.63152145442963</c:v>
                </c:pt>
                <c:pt idx="8">
                  <c:v>1.60289676612854</c:v>
                </c:pt>
                <c:pt idx="9">
                  <c:v>1.57164363437653</c:v>
                </c:pt>
                <c:pt idx="10">
                  <c:v>1.54758383972168</c:v>
                </c:pt>
                <c:pt idx="11">
                  <c:v>1.51936850700378</c:v>
                </c:pt>
                <c:pt idx="12">
                  <c:v>1.49471321220398</c:v>
                </c:pt>
                <c:pt idx="13">
                  <c:v>1.46824540763855</c:v>
                </c:pt>
                <c:pt idx="14">
                  <c:v>1.45540692955017</c:v>
                </c:pt>
                <c:pt idx="15">
                  <c:v>1.43466710525513</c:v>
                </c:pt>
                <c:pt idx="16">
                  <c:v>1.41793338809967</c:v>
                </c:pt>
                <c:pt idx="17">
                  <c:v>1.39674589981079</c:v>
                </c:pt>
                <c:pt idx="18">
                  <c:v>1.37582570091248</c:v>
                </c:pt>
                <c:pt idx="19">
                  <c:v>1.36496686454773</c:v>
                </c:pt>
                <c:pt idx="20">
                  <c:v>1.33890318252563</c:v>
                </c:pt>
                <c:pt idx="21">
                  <c:v>1.32883497032166</c:v>
                </c:pt>
                <c:pt idx="22">
                  <c:v>1.30622141578674</c:v>
                </c:pt>
                <c:pt idx="23">
                  <c:v>1.29545768569946</c:v>
                </c:pt>
                <c:pt idx="24">
                  <c:v>1.27731222061157</c:v>
                </c:pt>
                <c:pt idx="25">
                  <c:v>1.26458125392914</c:v>
                </c:pt>
                <c:pt idx="26">
                  <c:v>1.24727433498383</c:v>
                </c:pt>
                <c:pt idx="27">
                  <c:v>1.22908305488586</c:v>
                </c:pt>
                <c:pt idx="28">
                  <c:v>1.21311850120544</c:v>
                </c:pt>
                <c:pt idx="29">
                  <c:v>1.19918060718536</c:v>
                </c:pt>
                <c:pt idx="30">
                  <c:v>1.17958144741058</c:v>
                </c:pt>
                <c:pt idx="31">
                  <c:v>1.17860955272675</c:v>
                </c:pt>
                <c:pt idx="32">
                  <c:v>1.15090868545532</c:v>
                </c:pt>
                <c:pt idx="33">
                  <c:v>1.13961720211029</c:v>
                </c:pt>
                <c:pt idx="34">
                  <c:v>1.12290053203583</c:v>
                </c:pt>
                <c:pt idx="35">
                  <c:v>1.10519841276169</c:v>
                </c:pt>
                <c:pt idx="36">
                  <c:v>1.10013215135574</c:v>
                </c:pt>
                <c:pt idx="37">
                  <c:v>1.0796656319809</c:v>
                </c:pt>
                <c:pt idx="38">
                  <c:v>1.05512968250275</c:v>
                </c:pt>
                <c:pt idx="39">
                  <c:v>1.04700527065277</c:v>
                </c:pt>
                <c:pt idx="40">
                  <c:v>1.03324558597565</c:v>
                </c:pt>
                <c:pt idx="41">
                  <c:v>1.01511028165817</c:v>
                </c:pt>
                <c:pt idx="42">
                  <c:v>1.00192201597214</c:v>
                </c:pt>
                <c:pt idx="43">
                  <c:v>0.987106006278992</c:v>
                </c:pt>
                <c:pt idx="44">
                  <c:v>0.980197350902557</c:v>
                </c:pt>
                <c:pt idx="45">
                  <c:v>0.954716926383972</c:v>
                </c:pt>
                <c:pt idx="46">
                  <c:v>0.962297242450714</c:v>
                </c:pt>
                <c:pt idx="47">
                  <c:v>0.919551740226746</c:v>
                </c:pt>
                <c:pt idx="48">
                  <c:v>0.910411600341797</c:v>
                </c:pt>
                <c:pt idx="49">
                  <c:v>0.897095275878906</c:v>
                </c:pt>
                <c:pt idx="50">
                  <c:v>0.876418826828003</c:v>
                </c:pt>
                <c:pt idx="51">
                  <c:v>0.862145834770203</c:v>
                </c:pt>
                <c:pt idx="52">
                  <c:v>0.838760650062561</c:v>
                </c:pt>
                <c:pt idx="53">
                  <c:v>0.836734928283691</c:v>
                </c:pt>
                <c:pt idx="54">
                  <c:v>0.81435725315094</c:v>
                </c:pt>
                <c:pt idx="55">
                  <c:v>0.799310042152405</c:v>
                </c:pt>
                <c:pt idx="56">
                  <c:v>0.7819879870224</c:v>
                </c:pt>
                <c:pt idx="57">
                  <c:v>0.766323249320984</c:v>
                </c:pt>
                <c:pt idx="58">
                  <c:v>0.761273128967285</c:v>
                </c:pt>
                <c:pt idx="59">
                  <c:v>0.738929237670898</c:v>
                </c:pt>
                <c:pt idx="60">
                  <c:v>0.729036578197479</c:v>
                </c:pt>
                <c:pt idx="61">
                  <c:v>0.706450414142609</c:v>
                </c:pt>
                <c:pt idx="62">
                  <c:v>0.696921665077209</c:v>
                </c:pt>
                <c:pt idx="63">
                  <c:v>0.674735796031952</c:v>
                </c:pt>
                <c:pt idx="64">
                  <c:v>0.666181603546143</c:v>
                </c:pt>
                <c:pt idx="65">
                  <c:v>0.647122055969238</c:v>
                </c:pt>
                <c:pt idx="66">
                  <c:v>0.62995823381424</c:v>
                </c:pt>
                <c:pt idx="67">
                  <c:v>0.625219634857178</c:v>
                </c:pt>
                <c:pt idx="68">
                  <c:v>0.594672906150818</c:v>
                </c:pt>
                <c:pt idx="69">
                  <c:v>0.586205814781189</c:v>
                </c:pt>
                <c:pt idx="70">
                  <c:v>0.575525692882538</c:v>
                </c:pt>
                <c:pt idx="71">
                  <c:v>0.570348557949066</c:v>
                </c:pt>
                <c:pt idx="72">
                  <c:v>0.539374529476166</c:v>
                </c:pt>
                <c:pt idx="73">
                  <c:v>0.533554654245377</c:v>
                </c:pt>
                <c:pt idx="74">
                  <c:v>0.519104790420532</c:v>
                </c:pt>
                <c:pt idx="75">
                  <c:v>0.49742399515152</c:v>
                </c:pt>
                <c:pt idx="76">
                  <c:v>0.498950017585754</c:v>
                </c:pt>
                <c:pt idx="77">
                  <c:v>0.464815099477768</c:v>
                </c:pt>
                <c:pt idx="78">
                  <c:v>0.470490778865814</c:v>
                </c:pt>
                <c:pt idx="79">
                  <c:v>0.450998604450226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'Chart Data'!$L$1</c:f>
              <c:strCache>
                <c:ptCount val="1"/>
                <c:pt idx="0">
                  <c:v>MLP 测试</c:v>
                </c:pt>
              </c:strCache>
            </c:strRef>
          </c:tx>
          <c:spPr>
            <a:ln w="23813" cap="rnd">
              <a:solidFill>
                <a:srgbClr val="7C8B2B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Data'!$K$2:$K$81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Data'!$L$2:$L$81</c:f>
              <c:numCache>
                <c:formatCode>0.0</c:formatCode>
                <c:ptCount val="80"/>
                <c:pt idx="0">
                  <c:v>2.0388201210022</c:v>
                </c:pt>
                <c:pt idx="1">
                  <c:v>1.92481959609985</c:v>
                </c:pt>
                <c:pt idx="2">
                  <c:v>1.7939292301178</c:v>
                </c:pt>
                <c:pt idx="3">
                  <c:v>1.76536435813904</c:v>
                </c:pt>
                <c:pt idx="4">
                  <c:v>1.94156900463104</c:v>
                </c:pt>
                <c:pt idx="5">
                  <c:v>1.7253390045166</c:v>
                </c:pt>
                <c:pt idx="6">
                  <c:v>1.71752863349915</c:v>
                </c:pt>
                <c:pt idx="7">
                  <c:v>1.73240494041443</c:v>
                </c:pt>
                <c:pt idx="8">
                  <c:v>1.59411195335388</c:v>
                </c:pt>
                <c:pt idx="9">
                  <c:v>1.55546957473755</c:v>
                </c:pt>
                <c:pt idx="10">
                  <c:v>1.55001475334167</c:v>
                </c:pt>
                <c:pt idx="11">
                  <c:v>1.56417507476807</c:v>
                </c:pt>
                <c:pt idx="12">
                  <c:v>1.51261667194366</c:v>
                </c:pt>
                <c:pt idx="13">
                  <c:v>1.49575002822876</c:v>
                </c:pt>
                <c:pt idx="14">
                  <c:v>1.57702613105774</c:v>
                </c:pt>
                <c:pt idx="15">
                  <c:v>1.54342613239288</c:v>
                </c:pt>
                <c:pt idx="16">
                  <c:v>1.51269944934845</c:v>
                </c:pt>
                <c:pt idx="17">
                  <c:v>1.58393788146973</c:v>
                </c:pt>
                <c:pt idx="18">
                  <c:v>1.53838772068024</c:v>
                </c:pt>
                <c:pt idx="19">
                  <c:v>1.52540862159729</c:v>
                </c:pt>
                <c:pt idx="20">
                  <c:v>1.50685179595947</c:v>
                </c:pt>
                <c:pt idx="21">
                  <c:v>1.55879350299835</c:v>
                </c:pt>
                <c:pt idx="22">
                  <c:v>1.45108116512299</c:v>
                </c:pt>
                <c:pt idx="23">
                  <c:v>1.53930636863708</c:v>
                </c:pt>
                <c:pt idx="24">
                  <c:v>1.62619990653992</c:v>
                </c:pt>
                <c:pt idx="25">
                  <c:v>1.51463609600067</c:v>
                </c:pt>
                <c:pt idx="26">
                  <c:v>1.48016407623291</c:v>
                </c:pt>
                <c:pt idx="27">
                  <c:v>1.53409217948914</c:v>
                </c:pt>
                <c:pt idx="28">
                  <c:v>1.3812654460907</c:v>
                </c:pt>
                <c:pt idx="29">
                  <c:v>1.46641359062195</c:v>
                </c:pt>
                <c:pt idx="30">
                  <c:v>1.51205135955811</c:v>
                </c:pt>
                <c:pt idx="31">
                  <c:v>1.40632955207825</c:v>
                </c:pt>
                <c:pt idx="32">
                  <c:v>1.52230104980469</c:v>
                </c:pt>
                <c:pt idx="33">
                  <c:v>1.37847369041443</c:v>
                </c:pt>
                <c:pt idx="34">
                  <c:v>1.47042800140381</c:v>
                </c:pt>
                <c:pt idx="35">
                  <c:v>1.36837801742554</c:v>
                </c:pt>
                <c:pt idx="36">
                  <c:v>1.39973313598633</c:v>
                </c:pt>
                <c:pt idx="37">
                  <c:v>1.40583618850708</c:v>
                </c:pt>
                <c:pt idx="38">
                  <c:v>1.52026124019623</c:v>
                </c:pt>
                <c:pt idx="39">
                  <c:v>1.63866593551636</c:v>
                </c:pt>
                <c:pt idx="40">
                  <c:v>1.46839054088593</c:v>
                </c:pt>
                <c:pt idx="41">
                  <c:v>1.53744182834625</c:v>
                </c:pt>
                <c:pt idx="42">
                  <c:v>1.41628088226318</c:v>
                </c:pt>
                <c:pt idx="43">
                  <c:v>1.51747698802948</c:v>
                </c:pt>
                <c:pt idx="44">
                  <c:v>1.43396865329742</c:v>
                </c:pt>
                <c:pt idx="45">
                  <c:v>1.52830284881592</c:v>
                </c:pt>
                <c:pt idx="46">
                  <c:v>1.48826843070984</c:v>
                </c:pt>
                <c:pt idx="47">
                  <c:v>1.55085045337677</c:v>
                </c:pt>
                <c:pt idx="48">
                  <c:v>1.58800919132233</c:v>
                </c:pt>
                <c:pt idx="49">
                  <c:v>1.526792162323</c:v>
                </c:pt>
                <c:pt idx="50">
                  <c:v>1.66793415584564</c:v>
                </c:pt>
                <c:pt idx="51">
                  <c:v>1.55183227558136</c:v>
                </c:pt>
                <c:pt idx="52">
                  <c:v>1.5489429019928</c:v>
                </c:pt>
                <c:pt idx="53">
                  <c:v>1.72779740123749</c:v>
                </c:pt>
                <c:pt idx="54">
                  <c:v>1.64497208862305</c:v>
                </c:pt>
                <c:pt idx="55">
                  <c:v>1.6865281085968</c:v>
                </c:pt>
                <c:pt idx="56">
                  <c:v>1.66522305984497</c:v>
                </c:pt>
                <c:pt idx="57">
                  <c:v>1.88688920135498</c:v>
                </c:pt>
                <c:pt idx="58">
                  <c:v>1.69182104206085</c:v>
                </c:pt>
                <c:pt idx="59">
                  <c:v>1.84050612182617</c:v>
                </c:pt>
                <c:pt idx="60">
                  <c:v>1.87730851955414</c:v>
                </c:pt>
                <c:pt idx="61">
                  <c:v>2.02727425842285</c:v>
                </c:pt>
                <c:pt idx="62">
                  <c:v>1.81504417724609</c:v>
                </c:pt>
                <c:pt idx="63">
                  <c:v>1.78317340507507</c:v>
                </c:pt>
                <c:pt idx="64">
                  <c:v>1.87109265499115</c:v>
                </c:pt>
                <c:pt idx="65">
                  <c:v>1.72673552188873</c:v>
                </c:pt>
                <c:pt idx="66">
                  <c:v>1.96198034973145</c:v>
                </c:pt>
                <c:pt idx="67">
                  <c:v>1.74392165374756</c:v>
                </c:pt>
                <c:pt idx="68">
                  <c:v>1.79223659248352</c:v>
                </c:pt>
                <c:pt idx="69">
                  <c:v>1.82511980361938</c:v>
                </c:pt>
                <c:pt idx="70">
                  <c:v>2.62215901947021</c:v>
                </c:pt>
                <c:pt idx="71">
                  <c:v>2.02612123451233</c:v>
                </c:pt>
                <c:pt idx="72">
                  <c:v>2.19117638015747</c:v>
                </c:pt>
                <c:pt idx="73">
                  <c:v>1.90969225502014</c:v>
                </c:pt>
                <c:pt idx="74">
                  <c:v>2.1048514333725</c:v>
                </c:pt>
                <c:pt idx="75">
                  <c:v>2.03150373001099</c:v>
                </c:pt>
                <c:pt idx="76">
                  <c:v>2.18283730010986</c:v>
                </c:pt>
                <c:pt idx="77">
                  <c:v>2.38489054260254</c:v>
                </c:pt>
                <c:pt idx="78">
                  <c:v>2.17538444538116</c:v>
                </c:pt>
                <c:pt idx="79">
                  <c:v>2.53012037391663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Epoch</a:t>
                </a:r>
                <a:endParaRPr sz="1425">
                  <a:latin typeface="Arial" panose="020B0604020202090204"/>
                  <a:ea typeface="Arial" panose="020B0604020202090204"/>
                  <a:cs typeface="Arial" panose="020B0604020202090204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6666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</a:p>
        </c:txPr>
        <c:crossAx val="48672768"/>
        <c:crosses val="autoZero"/>
        <c:auto val="1"/>
        <c:lblAlgn val="ctr"/>
        <c:lblOffset val="100"/>
        <c:tickLblSkip val="10"/>
        <c:noMultiLvlLbl val="0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w="9525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交叉熵损失</a:t>
                </a:r>
                <a:endParaRPr sz="1425">
                  <a:latin typeface="Arial" panose="020B0604020202090204"/>
                  <a:ea typeface="Arial" panose="020B0604020202090204"/>
                  <a:cs typeface="Arial" panose="020B0604020202090204"/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666666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  <a:ln w="0">
          <a:noFill/>
        </a:ln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75" b="0" i="0" u="none" strike="noStrike" kern="1200" baseline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cd0d2d0-976a-4314-b256-e22445c1056e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mYWxzZX0iLAoJIkxhdGV4IiA6ICJYRnNnU3lBOUlGaFhYMHNnSUZ4ZCIsCgkiTGF0ZXhJbWdCYXNlNjQiIDogImlWQk9SdzBLR2dvQUFBQU5TVWhFVWdBQUFZc0FBQUJHQkFNQUFBRFB6NlZtQUFBQU1GQk1WRVgvLy84QUFBQUFBQUFBQUFBQUFBQUFBQUFBQUFBQUFBQUFBQUFBQUFBQUFBQUFBQUFBQUFBQUFBQUFBQUFBQUFBdjNhQjdBQUFBRDNSU1RsTUFFTjN2elpsMlJMdUpxMllpVkRMRGk2WUpBQUFBQ1hCSVdYTUFBQTdFQUFBT3hBR1ZLdzRiQUFBS1BVbEVRVlJvQmRWYnpXc2t4eFd2MGE2azFiZFlndG1EOFNoeUFpRVlqN0lLOXNWMkQyWXZDU0dqUXpEWU9jems2RXMwWUlNdmhsRndMakZKV2hjVGd3OGpNSTVEQ013ZWtsdGdKcHNReUNWU3lCK2dJWUdjQXBJMUs2K3kzblhuOStyelZYZDFTL054bUszRHpQdXVWMVd2WHIwcWpZU1FyVlJKdGplL2R1Zk9xODl1SitlS0pPYVN3ZTFOVUpLR0pvejh0UWhMTUw0SjQ2OUlJNGF3blJ3UmZnK2RvKy9ON2VpTTBQbElpMGZKSHVHYUFFOTJKSnIvTVorNGRxSEZyaHZTWmNyNVpqVm56VmhLa2dlUzVBZ053cnVPVCtpc1F6Y0lkNFNxUkFzKzNuempwMUw1L3Z1di8xR0x6WDhzS1dlL1hpL1F1eEpyNllQZlJNcTFyOHZaRjB1eFFyLzlRNm4vMUJ2dnFhNisreXZDVjQzNE4xN3JTLzdxaDFKOThMT2VSSXMvYnNEVTU1N0xkVkIrNFZHS0xSUnc1NlVqUDdJU1pQcENqVW5TQ0gvQmRVVytESnBXV3F4V2t1Uzg1L0FDYUJHcUJ4Ni9teVMvOHdoaklNZXcvc2pwSTZ6T25kZENISUxOUnJVQ1ZNV2ZWcm1XblBXY2RoRTBBMVUyQVJDTms1OFhLUXpGSSt1blRtTW01UmFHbGJCaHJmclN0RDIrNVpRTG9USlVQWUc1NUFzUEh3dVpnM1ZtN2pDVmRhNkIzWE1kTEFQZGNxZ1FONUkrUnd2Z1kwU3J4MjVmc1BueE9DTWdKVGdtMDZuU3JabTByazNSWXZXZFdaSm1heWRFbVUyQkV3dEJkZXh3VGw5TTduSjBYQmptWGN3dXBoWkRVSFp2c2k2QWZzWlFVYTl5ckFoR011Qzdhcm55WEpIMDBEemF4QWRHcS83UVFQcWJVdE1SbzBWZVFoRExQT0tZV0JaTXIrTnh1cWVzeWxBVW1tOHp3WFBKWGtxWDBtU0QwVENuWHpMMFJpb0dHU3NGVW82ck90ckNaRU5LQ0xML1AyMi82MjlDVUJmQTNYZTkwNXp5MEdoZE5VL0pFOThaS3RWVTllTXNqdzFGT05HVWtSVStYNHBFaVd6SGRVSDF5R09IaWtxRElZV2dmMnk4TmNrc3BmcHR3elVWL3EzN0dVK1d3RHh3Vk5wSUxEY3RzUnpuaElKUUdacVdNY2RYMkZMSEE2aURLcGxZVGI2YXNVUWh0K2VvY2VRaUVOUnJQTUNjVkFocUpZbWJwTTZMSVpIeGFMU0w1YmI5ODlsNnhoS1YyRlZMblIrMFVheFlWTFQzSEh3SkJFV3pBOFc5cXhZd2w5ajAyRlJna0d2TDBVc2VYU0xFM0xMa21jZmRKSEdaOHVycFZvaWF5dzByUEV5dDdiRUJKRkdxbTI0T2VsbFRmcnJ2Vm85NVNiSElGaWFyNmxHNG5UcmJYWjdRZUFobUdHZERxY0lQQkdzUnZGT0RsS0oraTRmNGlUbHZqRUQrTnd2T3J3ejYrWEpqY0tqODIwRFowUXpaQU04Nk8zc3VUbXgyaG5DdEVkSUkwdHo1TXgvOUpDZ3hOcEc2ZUNCaWZoNDRteEdyUGc0L0UyWElHdVlRNlpiVlpydDJweHM3RS9xbTZ2c2lyK0RFeHJGWk5XNklOVGFNYStHQkI3MnllcmRZeGdoS2prNk00VnZIcTZLZHJabzd0dWR4MkpNN1NBZXlEWkZ1UlV2dktkeDY3YXk0VGlZRG9RK3ZjdUpXTys3WW5zSHNzMnRVNmNyVkxleTE5YkhSNVptTzl6TUJtT3Fkdk54WmQ3ZWRibFVJZG8wYUl0M2FZME8rRWZVbTRITElST29pNjRtWWFRUXg2Z3U1VlkrVXdCRHBWZ2hNRlBMMmNnMHh5a3ROcnl1TlBQTk9YbnMzSk81b2REYmxGWG03ZHFFVzZQaW15dVd1MGh3aTNRcDliTHgxVHN1QjhSUzBVZ1NSbk5ZbzBBT3JEclZtV0tScmd4bnBWajBVTnFUa1N0N0FRM2JVc1lHN0VtWEZuR1NpOVdqRWVXMHZaTnZSanFGMzRGQU9nYVVyMDA0RGRIZU1EWk51MWJGUmluRlhpdk1YWG5mN2NkNGdrck9jcWRhS3l4RTA3Vm10aWZycnhIUzdLdTlXN2hxMVcvVUZDN0UxZENEK1RYZWxGcUJpYndvTkZURnZ3blRlVWgrYTZ1TzZQT3pvR3JWSHRrcjgzWWV1d3JmdjRHMSsyK3pmQ2g3ZlgzMTJ4L1Rhd3BvdXlic1NwVHBwd0xBbTlsMnFQSUJ0ZlpGTld5MkRKV21VYnRYTlhRS29yM2lqVlpKTmVVNUpBODBPbzQxRTBiSHo4SWhyVGd4R1VWaEhuMGRCZ3hRTzY4U2hkRXMzUkNvajBkTHB0dlIzMkhqaHYxSVViTnFvMy9rSENjcFdBNnJ2U29EOEdUQXk0MzZqS0VUbzVDdzFEYU9ISG1TNlJlWUh1a1VkWnROdGk4OEVsdU9YSktZYnRFd09xUU0wZ3pYc1NYd3Y0ckpCajFYaHBhYnFvNDl1eWlvRm1PdlBTallHZDEzdFM4Zms5NWx2dERZbXpkS01OUmh2VW1BZGxUTzlISVNYbWdiWVJGY3kzZUliNkNtK3FMNUt0Wmc5TlM5WHZ1QmNsNmJwOFpwZmk3blVXUENDM0lnUmpBZk42TmRQbFc0aEFUbGF0a0M2ZFJPT1A3ZFJiblhOekFWUmFHV3ljK0JrUjRSMkwwZ1JFV0dLRE4rT3JqNVV1Z1Vya3M4b3FYUkxLdGo4dGdTL2xiSkZHOHlhcmRpNndKTEdCL1JMWVJrZGJZU3NVUkcwTDhSeFZUUGhCTHlkcGZyS2IwaTVGRzNVNXFQdktjQjh0bXdwQUVvWEZudUdNNmx2L1ZKb0g2dlNkaW1zZDB5NkJUT1dJU0hySzE4VTBWZlZGTnB0WG11elJ5cDU4NExGaVRielVram5RWGFHMFJXZGF3ZGl6dkk2OGhvVk56SmVyTm1iMTcyemZvcGJZd0VuSDZWektwK1UydFhSazhHNkVxN0FYUTE2MnVyMVU2ZGJjT3EwaytrNm0yNG5wbFphd3JCVERiWlBMZW15SW5jMTc3cnh6cnZXUmdwd0w0VmRkTlZJY1FtbHhGSzE2VmJlUnM5RDZaYVNoRlF2eFMrbnpkQlNWeDB4enExOFNLWVVRVHFuTlp3UkQzSXZoWFRNYlhrOGhaQUxXemJkeXBUMlVIU3JXY2xZRi9TQk4zOEt6SDJuMFFKNjVOQVVSUE9XMS9aU3NocGxMNFcwbFczQ1pOSVVBcWMyM2NvOGM0SFhReWFod1NpUkczczJzS1owOWpTZEJoVzVWWWVtb2VIdkcreWxrTnlWSjBqS3FxdytqbDJ2TGVUT1FMbzF4OFpxSlRBWGE3RE56Rkt4L3lYRHh3YjVTeUVpTnBqT1FYNVU2ZHV1VGxDcUJ0SXRaYlJUQ08yR0hJU092a0VxTXpBWnJueHNMME1CaXp4RVd6RE9BdGdhaXBDSmJicFZ2NzZJQTNMcTJMaVZjbGhaMmVYSEJraDFkTFZ1T3hnWEtOVk0xVW1XS0dLM0FpWXJvTE0wWHdZYVNMZjBEcmN2VmlKd214a2pjV3JiSFVLcWtaRWFsWERUUy9DVVRyeXlWSnV0Z2M1bWZ3M280MENQY0swcDZwKzNRcnNYS213aTFHTlhhTVlDWmk4bkxWZThXYVc5N0VXd3RoRDdzMC9EcUFhTWQ3R0wvM1hXUTJ4bDlqaWwwQTJ1a2pkalhPYks4RDlUMVVjSHZmV3oyaUR6MmFmWUMwaUpUbkovRHNVWGpwbk1YRkM5ZHNBTlUzSTMxUU9uandML0pkMGhwajEwa2EzN3M0K3JBOXZ3cnVNb2VWaDdFU2lzcERaSGFSZUdONXdreW1VUWt1YzRaVlM0OUhzeWRjVFUzeVpDSUEvQ2lUNFRROVI0Y2E1Wjh0aFpCM0xpai9xdkgveTJSb2FUOXovNVNJditRWjl2MzN5Tm1SMEpmT29Ia2JROStOU28vKzA5U1VqdWYvSTZPY05hMTU5OVJNZys0eHFRanJTN2hLUTJoeHFEc3QyWHdpU3BXMU1TUnYvb0dFUDJIYlppS0psVWVPelAvbXd3M2RJVDlVdlNuOVRtcUNmYitMVXQvUWpXN0ptVlpFQy95YVZmeGFZbWJPanh0TlV2ZWJmdGN3VkNXbmFIM2daOTMxekxuLzBGYjhOYlVYbHNTQXhUZEdUSjB3TWMyaFdUUGdWK0hrUDBRN3V6QVcxSXllbjZtSG5lODZkMHUrZmhHdW5hOGdMaHhSTjBTSGg2YVIzN2R4N2tMSC85cHRmcHJHZVJ5OVZUdWpteVBtY3BXQUliU1ZPNk9iSk9aeWs0RE95aGlKY3RPNlNzNUZSVHNLODNqSU9vTVovVXpZRmpZOGNNZzI1RmR5M3lSQUhZRCs3TUs3T2xlYUpHUVk5VTY5WmoxUExwMTAvTG0yYmc2ZitnSXZ2eG43U0x6N1NCZmRxYlpvZUR2dFhnTmpWMTdVT0pLMXMvS0R2RlJQcmpNZjVsTEhwRituaWQvcTlyYzF1VnIvOEhkYXp6Z2hjaGY3Z0FBQUFBU1VWT1JLNUNZSUk9Igp9Cg=="/>
    </extobj>
    <extobj name="334E55B0-647D-440b-865C-3EC943EB4CBC-2">
      <extobjdata type="334E55B0-647D-440b-865C-3EC943EB4CBC" data="ewoJIkltZ1NldHRpbmdKc29uIiA6ICJ7XCJkcGlcIjpcIjYwMFwiLFwiZm9ybWF0XCI6XCJQTkdcIixcInRyYW5zcGFyZW50XCI6dHJ1ZSxcImF1dG9cIjpmYWxzZX0iLAoJIkxhdGV4IiA6ICJYRnNnVVNBOUlGaFhYMUVnSUZ4ZCIsCgkiTGF0ZXhJbWdCYXNlNjQiIDogImlWQk9SdzBLR2dvQUFBQU5TVWhFVWdBQUFYY0FBQUJTQkFNQUFBQmQrSW44QUFBQU1GQk1WRVgvLy84QUFBQUFBQUFBQUFBQUFBQUFBQUFBQUFBQUFBQUFBQUFBQUFBQUFBQUFBQUFBQUFBQUFBQUFBQUFBQUFBdjNhQjdBQUFBRDNSU1RsTUFJbFNKdTkzdnpaa1FNblptcTBSeHN1UmVBQUFBQ1hCSVdYTUFBQTdFQUFBT3hBR1ZLdzRiQUFBTFNVbEVRVlJvQmRWYlRXempSeFdmZkc3c3hFa2tLQitYdGFWSzNLcmt3SUZUWTZqb0Nja0JrUVY2NEI4T1NVVVJzaXQxRzNwQWp1Q0FFQisyUkxkSTdjR1dLaUVxRHM0QklYRm9reDZXSHAxRlVDRWhZWE9vZXFKT3V4dG51OXZkNmUvTi9PZnpQMTUvYnJMTXdYN3Z6WnZmdlAvN3YzbnpadUl3NXJTcHg3OWU3TDd3czZvai9EOWhYbys0YUdjSEV6STR3N3M3MzluYjI3cXl5NThUa0Vxd3kzUEVQOFozdC9iMnJtN3RGaytKWFM3RzZrV2VKejRXWEwzQzl3WDdvSS9yblAvNHJTOWVmcUxJdXhPeWZrVTZnejd2aTVtTlFNelFOUDNVdldEWVRhR3VCU1hCUHVEakw1ei9YWFJQUjd5YmU0RGk0RjFMWC9sSFVScjBYUW00VkpEc3M3OFdJSy85NW1uQm4vNzBTZUxUU3YzYnY2cUwvdlNYeGZEdVU2dUM3ZjN4Tjg1dnhMMkxuTi90clRoY3o3S1kvcTk2VUFYVzNzcHBsaEgvbzZybVo4RjIyNXBsNllqejIvMU1aNS9uL0JrOXBzUDVzV2JHSk5aZ3pvY0dZd1hHR0ZzWnk2STdaN3Fud2NvSWkyWHovTFN2N1hEMlRRT3hETzhZYmp4cUR1YWNHSWc1enhnOERMY2VKdTFxMHpyNG9SbmNneXB3M3JhNkRqay9zTmh4U0xpRmYySUFzbDdtbUVlMzVkb3BzTnRHbTdGWlhyZlpFUDBZNTkrMDVaZThsMmYzRFVtbllJNUloSEpjK2JZN25sNU0zWWhJMjNwUGpOV3NCemRxTm9XWGRXcTlPOGJnZ0s2dE1BNWRnVDF0QlpEeEhNL2dKdE1MTGJBZksyWDZycFJzTGtSM09QK2VLMGNZSGJpU2tia3M3RGxXb3l2M0ZCVi9VM3JKV2JLaXM3emh4VldyTTBSaWZYWTlIVHpPZGtoMUJCbjVWamx6TWQ0NkRVd0d2YmFiSXM3dm1GNDI2MFdaMVJXVGpXU0VyMHd1MVZQMlU1bXNtVWhpTStoZE55WlJ6TnVwc3RNdjEwemhWZGtQVDFCNG14TUxlc0RIV05POFpPeVVGQ1dqZlNPa2d1QWp3N0xJTjh6cUUrUXJnYXhPbUt1KzRvajhCckJ5WW16bkxBR3hoTTVqSTgyQ3RmTExrcFduakpKTkZVeE1hakdXQVQvUzNIaEVEVmpDNDJrL0xRQ1hnaXB2OEF0NFRTckdJSjIzUThob0dZcWNmR1JZU2RGbWtmZUZJL0swSnNVaS9KeWJqd1VjZVVrOG1lUzZHeWdmekR3YmVVTUhxUWJueWJkSkMyYzdxRDY4a0xaOE1taXErSVBrWU9yYzF1SzVqNXFjMzlOcy8wUlpkdGQzUEJLWUp4cGtUQ0lDV0pXeGEzNCtKbGgzUzIyVzF1d0ZtTEZlUXRBR2locnozclFLcENvNWE5bW9CTHlKZEphSzdBU3VzZENudlpRcTFqdDJIRFQ2bVZERDZMYUcwZ1Nrd2JtMHdoQUVGVitiS0FUYW9USG8weVl1M0dZTm5WZWhYRDRJamJCa0ZmdFJqUnlZL1ZhNlVlNUQwVVowbnhYcy9HMUdGSzE2SVBzeHEwRlhkZlpObEJSelZtSlY0MGdjbmt4cERQRk5xZXRXSnBuU0JFUmtlYWx3d0ZhZ3E2RG4rMWxBVzVxT09UVUt4MG1JSitaNVZnQmFxOGZKc215OHRJeU5tSXl2eG5iMFRaUTFLTzhib3hWRmU4ZkVZcDUxZ0daWE1Hb1crbTZaTno4SFQxdUhrMVRmUGI0SjJMb05KbWtLVSt2a21WUVlTa0luamw1WnIySkt3R2FKTWV0dzBqZFJzcks5dW8xRnRDc0dvc2tvREVWUk9nNHNMSUd4WWVxQllwMkp3MGxPZ3ZkTmxMU1dRajRoQjJ4TERQUDU2Z2U5Mm4rTlVvaWk1ZCtyeERyVUJzelExa3BlTzVJWWZSTWwrU1MwTUd1UTV5V0cva3dWSWV6UkRyUldrRUJzaExNOFk0amJ1TWhIb3BTM1poSnN1dGZqNmhub0ZCWUtqelhJajdTV0pLaUc2dFh5bnE3SEV0eXhKNHRaZE1XbFZZdU1Ob2VUdm9sU1pLYk5BT29HWmx2MTVlLzJNcDJmdG4xZGg2ZmpEaWUvQmxwRFJWUmFuRmdvRlBhRjJtRXBxWjErODBYKzdGUDF1QU5EUTVteTF6cE93ZzBrdVVaUDNTUFBaMVhHdUNTMkpEcWM1QWswRlVpQ3IwZWM3MExoaHB5MUNmSklrdllucmJEUU9yWjFCcWRUMFgzZzlUaFcxdEFsb0NoUnlzT0pJRkRuK08wNjd6NVpaVlB2Y1A1TDBWWEIwTHF2eEJnOWY3KzlPVG1xbHdRbEdjMlRDL2F2b0tkS1BaUW81ZGErU1VReVViNm5ibWpmNTkwNnFSUXdsTDY5UnRjVjI1NXNkQllsV1JhQStTQUNHYitLSHBFb3hYV1huRG1SS0QvTFQrc3hRa1h1R21XOTFoM2tHaEFQSE1rWVRBWlE1STN3amszMVFCM29OYm1nS1dCUHdFNzdVWWFDWlI5eTBWQ1F0VUZFT3N0S2NmeDVDSWlxSXhtRHFlQkVUYlZTTW9nSmxCNnJqZTlXN0N5d1pEelZPVTdic1Blak1xY1RaVEdNR1lYRkR0cWd6SXp3R0NZS3hhZTRJYUxWSUJNbE1LRkhyOGhQbEM4N2E3TWg5Z1pnV2pjTnloN2Fqc0l2V1drTThYMG9OdEJEUUI2RlJzWDFnRXlVVUlCRmR3S0pNaUtwYnRoYjJ6aG9CZk12dmNwOXJUa2VFZCtTMVFDNUdVS2lBOFU2WTJ1bHVETVM5Y29DMVRsV2c3VjFpNFYzb1Y4SWxuc2RaT1dxcFRzT0dkK1M2Y3NiSDR2cWdYMlZLTkVKaXhEdVdXOC9ibmxWcVlpTVZ0RDQ4dVN5dkxvbG82T1o1MDM1R0ZRUEhMTkYzU2N0d29IUWJuakN2TTBqWXU0eXRoRUtHd3A1VjljWk9CVFRVSzh3QW1qb2Jjcjd2amhSQXJwQ0Z0R0IwRzRJQlhkc2kwclJ0ZENDcFdMZTFaVkE2VjdsL0FjOTYzbHpTOVlFcU90T0NVcWVLdWxFS2R4NU81RW9JM0swM1NwVWJkUkNMM01qSERXajFQUG1sb3cybzIxNy9wZ1c5MzA2VVNKSGtrV3l6dEhhQ0MxdktFd1VXMFNpNWllNFhqNUNWN0RsOVVRT1lkMlMwY0lNSFh2b0xIZWlFNlU4bk9EbXpJSEpKbzd2R3hRYkJDbjFsdi9aL1pxa0VEVjYrVGdZdzlmejFpMlp1THh4NENRajZnR2RLQm5kTkp6NWliS1ZPRnhVeUhpQ3pCSEtWSmxIL0NXQmg0NlNJTWIvc0cvSkNwaHFOUUFKOFlkUlhYYzBjRGp4RWlXTTlQOGNCRENNd0VNZDA4QS9uTFhaRjhSNURPVnc0QjVkZ3c5RFpPd3l1QU1yMXdPamkzalIxcHZPUXEzZzZpRTgvRW9IdjB3QkZIUnBQMGdWU2I5eWhBOU1JdDhBNlBGYXFtem5DTXBoMndIQUNISnJTNnFCOVJJbDFyby9VQmJEMkoycHVKa1ZGVTYySk9vL3l3K0J5UVlYWFhNTzNiUWJmUklZWEliYzh2UUtXTS9QamNTMmcveEtOV29xRXBIWTJDVFlXVlJqYTV4MjYwbTBxY2p4SUszTTVKOWdSRDFnNjVIeDhLSGREaFBaVHdWU1ZqeFdKVWZhTTNjcC9ZVGNZMk1OU24vSlMxb3RtRlZQRG9iWTlqUkZsNmNGRFUrQ3l2R0VrTEE5NHcyVXEwUXYza1BTT1ZzbGN2eUdYL0M0amk3QXJId1N0K0o2R25iNVlSdXBkSzRIMXhSU2swSXVFdktsMDhQRUc5SURoaU5TNzhCVU85bXc5MGxBa2VxMVE5ZXZLSDZ0NVN0MGk0bTdRb3hwaTY1MGtkK3FGb1RuNmRMZ3F4NzJTT3hydnlnQ0NtbmpQMnI0WjU0V0FuNzJyNStMcVpTY3RsVEgwNmlkMTAybm9QeFhTS2RYVlJmZ2hIV3pRZ09tOEJ1NUc5N0EwZGlXdEZSZGhnRWtVcExFcTExelBiM2dKMG82R1hwN0ZKS05YaWIwUW0rK2NmbHhUS0JzZjJzMG85V29qZTdPMXQ1Vi9KeFNKL29DMzRWb2IyczN2bk5SbXJTdk9KNmVNWFlwbmNoOU42SWkyMVNkN0gveUpmT3VLc2pTM3FOcXpZZEFaRlVFU096QWp5dkt2dWM3empKSnYzbTF1UE9UdHpOcVY4bG9qejBFYXozSXVXY2NRV3BuMWVIQnRMeTBoUmdNM0JwazFCazVPN0c3QTkrUVVmZzFieGxnTHlvbGNXYlYyaW1ia0VwcW5idWs1aDNzT3NIcmdVdnhBbHRRc1gvdWRnWW5ST3JQVWNjVFY3NUJYempSMFgyWjMvQ0xUU0dxQkkrd3Z2YTU4VGphVVppOHpGK0k4dmordmJOY3RSV29QUS9BdkJmYUNMWFNCUkF0ZmdlelJ1dHNFUXNWcGFUOFBidG5DSXkvOThhcjE1TWJ0S2QzM3V3ckZCRUx0QytWVjlrMWZsWU5HVENudHNIMVVPL0Z5UkEzeDZ5V2h3SE5BNVF3eDBGTFVOR0o1bTRiUWRYekZYYXd4ellvb2h2UGwvbjN3M1BUaFNJMWlyQkhxazFGL0Z2QytKbzgrSVdNbzZxUzJsR284MEpsT0sxR3o3SFVuOHIyZndxNEZ0RkpEVzFTUnlrWGZEenVkeWkvZG1DYkxMcG1RbUhmRk1ZZmpUZlB3eG1kL3ZPTGZPZmZIYmtjeGVMMTUwSFZZUC83aGQ5OThmeUt2TGVxME9KTnREOUdwNzlOQ0I4aHdZb28vaGNmclFwZ1VQK3NpTCtWdFFKSDRVRVJMbEJ2bm5mZnZseFJ4ZThGR2pMSzFIRU5zRDdLMkFzZkk3ZlJSNjRDR013djlCZXNDZjZOZUxCSko2WkZ0bmZyRTRNN1g2QTFHUC84K1U0NXVkblM3NTZxVzdoUEFld0ZtQk5PSXljckFBQUFBRWxGVGtTdVFtQ0MiCn0K"/>
    </extobj>
    <extobj name="334E55B0-647D-440b-865C-3EC943EB4CBC-3">
      <extobjdata type="334E55B0-647D-440b-865C-3EC943EB4CBC" data="ewoJIkltZ1NldHRpbmdKc29uIiA6ICJ7XCJkcGlcIjpcIjYwMFwiLFwiZm9ybWF0XCI6XCJQTkdcIixcInRyYW5zcGFyZW50XCI6dHJ1ZSxcImF1dG9cIjpmYWxzZX0iLAoJIkxhdGV4IiA6ICJYRnNnVmlBOUlGaFhYMVlnWEYwPSIsCgkiTGF0ZXhJbWdCYXNlNjQiIDogImlWQk9SdzBLR2dvQUFBQU5TVWhFVWdBQUFYa0FBQUJIQkFNQUFBQVFLaXBuQUFBQU1GQk1WRVgvLy84QUFBQUFBQUFBQUFBQUFBQUFBQUFBQUFBQUFBQUFBQUFBQUFBQUFBQUFBQUFBQUFBQUFBQUFBQUFBQUFBdjNhQjdBQUFBRDNSU1RsTUFFTjN2elhaRW1hdUp1eUptVkRMOFpwcFdBQUFBQ1hCSVdYTUFBQTdFQUFBT3hBR1ZLdzRiQUFBSmpVbEVRVlJvQmRWYVBXd2pSUlFlNTlkSm5EaTZpTm9tZDRMaWtIeGMrQkVnc2RZcEZZMEREUjIyQkRwS3B3QUpCSkpkSUJBMFRuY0ZoUzFkQVowam9LRkFEaEo5QXJSSWppaVFFSVZEZk53ZDk4UHl2Wm1kbVRlNzY5aFpPNmZjRnJ2di83MmRlZlBtN2RqaWduLzEwdWJtNXZwRno5OFMraXI3Ryt1Ym14ZTlmelFoOFRQdDk4bisrc1VOLzFWcFJCTTIvQVBnU3dYRHpoUDdiZW40MnZxR2Y0OVFUVmozN2lnMGZLLzY1dG8ydkVKQXUyc29TWUdzc2U3ZmxqWXNnUVlyWTlsSHhLNFovRmhLRzhJdGhZYnZzemMrVVJwZnY3OXFlTytXSk8yMWp3d2xLWkM1OFlXbjdEOTlJRzFrMmdwOTdtTkNVMjhHN0V1ZlZ3ai84NE9ia24zODFWdUVncUR3bDc5VWFNeDlEUXJIRlllUmFvRDBvME5Lak14NUZORHJScjhHN0o1NkZhTE5BKzFicnFDM2U4RUlDL0U3OEpOR2NSYjgrMHlld0t6UGxrR0lkMXEwNjlxSDZUdDJtc1VTdUErWlNaS3VNRng0L21XT2h1RTV5QitGaUROQm1vYklpZEFwMS82VWY3ekw3WUQ3TjhON3dCbUt0ZEJuNytwd0pFSnZ6L1dKbUpVbElTcWJoRUp6KzhBcWR2eHRpd0R5M0pudklKRWNmdnMvQjQwZ3NCNldLSTlmTEkyYkZPd0hKWVJvcFZEMUs3amVjNUEycWdCUy9oNUhvN0RuWmg2cGVNV29XR0pLRFFGVnRIWTZOUFNpNUR0WmltWGg4MVNaSDFBc3RUM1NEdzMxdk8ra3BwRk1CblFRVUYycjFzS2JTTnNkdTJrSWMrZWRjRUhSaHZTemdTcWdZZlhzaGQ3RzVaNFdtMEZBZW1ITitxMlFPcnh6YjdUR0Q1bEkyMTBsakJPQVRSUmdsMXJJdS9oNDJESUMramN3c1IveUpBUzhheWJKNUNCY0NZVHhtRHU1NGtCaTMxbFZJTXc2YjI5TkpZVThVMGVXL1dMWVNObWQrUnFpUDdBeVUzeGVMSmxCVlNnd1ZJaE9LSkVjWmdLa2FTS3FSdGNneG80dEJTcmZ2TXJzNTRmNTYwQmhsUXUxbitYWStIQU9Eb3BrWnNWL01tS3Q2K1R0WWgreU8xYklxMWc0SHNwQzRaQ3hsdm5VTVhwaU1BMEhja2Y1OXRnWkpXa1FNODhtcFBvU1pMZU5wNFhJTWpFc0RWQ1JPdEFJbm12RFZaajBDT0FLSEZBeUxubXZSS1Y3WmxFUXIvQWJaT3RHYW1pOUZJSXEycFpSUUdjeHJNUXkyZEhBQWp4ZzFDLzBkNlB5T2ZBTU5YT0xDbFRMNEkxdEF3NENhR0taMUlyektvT1VUa1hmaDRjdGtTcUVHeEl5a3VYUnIvMUhQV05SRzE5eDE2TW1PODhGS0xRc1pZbzFKWlk2RmtTNW1jY2NWMktzVVBTWUYzWFZ0aW5Mcm1oMFptaTlWTjluZWEwZ1JGbDl3MW5DK0JDTnoyM1JmaGhuaWJjR1MvNHE5WFJIV201NHZjUit4aFh3dVZEWHloTjdVaFcvbCtaMTNKcW0xcUFTb0lzWWF4Nk1kMkRsQmtGdWc3ODRkRzhlWk9jRWVoc3hOZUxUZ0dxR0RyS0tuQUdxbTZJUjZpVjhRc0d1cCs2REU2Skl5cXJDQmQrRW1CMnFHWHNCWHNCcmVQWnJKVGRTOFlPQ1RVbXZ5RXhQQ3FUMEdOQiswR2Y1bHZLVG9XMnJZSWR5aEhvSmhSSnI4eWJiMnV1M0QzMGRhakk5YVVYdktNSTBaUUNDQ1laeWxIb0poUVpybEhxOFhWVkd6VDMxeC9WQjE2NFJpZ1ZDWDRkY2hsNXNXeEdhZFR3UlRKQzdvOVJMS0RSWnExSEtnekRnb3BPZkFWZjhpclIyYXRDcldKUkJkSjdXa2pqcUpaNlFESXgxODVJODdMWnZXNDNaQVQ2a2lTb2NEYmlHdFVaZDZOVmo0NkRXb0NnNWFSbDEwNlR4S1BVU2loUlZZRG5IZXUyQVpCOXBENEx4MTFOV0tnNWE4cUNtQzZFclFKdHJYcEo2VitoUjF1dDdscldla2ovZzFvR0JJSEVuM2RvSEhpL0FnMDZJVUJDMDI4aXdSZW1BV0VnRU5aRTVVOFZYUEp4cFgyTm4ydnY5cTV2WGRISE13a0JGR2wwMnBWZWlrN3FsQ3JmaHdqMWwwclpOYXlEcnBSQmR2UWhyMjFxRW1nRzZ6T0pxU3JTbytOUnE3RWx3ZXNUWlVub2ozOUdmMWVCRGptMUVDUXlaVTdKZUN0RUx2cko1dlV6OTRQbis4MzhaMWRRdldCdy9CeWh0MWpzU2JvNjB1eGtyb3dMb3p6cncwWXFWQjBONmxmVVNIOVhCSkxuMXN1eSsrNXgvZDFVYm84MjZUc2lLM2pjMFp6TFBORFpUR3FING9mSFU1cG9LK3VRY0JNbHQ5d3AzanNMQ1p5N0RBcVh0cmtpeU0vR3B5YzBrZ1d2WUFha3d4dmNLSlhVVXFPcWwvVnFobnNkZWVLY2RpNGtwVmhwcHc1QnZ1ai81MWg0dUYrUmU2c0VKODIvQnRtb05WTDFVMGUvaVRNbGRnVmlhTGFzaW1ubUxVTWs5QXBwUytXTVprNEhLc2dLVzRXUXZ6bUJEdFFhcVhncEJKZVFRWjJxbVhrcWRSVjFXSmJhaUN6eGhWTFFvSjlQMkUwMEtUZVlXbkovbDRDUWZaN0VtTjlkbFBkYkIxMHF0N3NpaUUyV2JuWHZDQnNPVU05V2dQWEwweGthQzh6TnpxQk0yMkpRTElxaVhRbUNVc1VCVnoyTkZrZHdzcTV0Rnk1RTlOUVd1ZHkvT0dodlc1MmVVbm15dFdidGxTUy9YQTRyNldxRnZSSDVCMnc2dGt6aUNmcWhEV1ZpZ2ZKdjQxZE5mbWdXRXZ4cGp2a3V0Z2E2WDZrZkVMVUhmaU03Rks5YVVmUkdTcWNuWDcrQU5UcjRTOVBmMi9Hd2YwVy9GMks5U2E2RHJwZnBhMlJadXZZUldnWjBYMWxxT21iTHNMVXJoOTNWa2dDVHA3KzM1R1JXVE9BODkybHgxdmFUamQyeWRRYy9EQW1qWWVqdkhLdzVFdW1RZzQreG1UTkdBR0tWQmx5eUtSdEFDN1B4TUhlcFlsb1k2c0JuMGwwU1NYeXRyYnIwRXVXemFZREh0Smc1MVJ2NEloNjlwRDNMeDE2RCtucDJmeVVNZEhUSjc1bURSMUV0MXVsUU0xVXRJZDIyckVFb2MrWFBMYm9NVlZHWjhQSkNmbjdVUjVtN1VYQmJrYit4WVUyMjZIRjNlSGJOb0lqOEdrWUhyc1VzcTZ1eFVsRFRQeGlxODdFVFZhVDAwNm9ZdXB5aGFQeEJpSUxQMjBNZ3FnUGEzTnlaLytDcFNKVjYyeVV2TXNpVXlHMnZhK0dQRTBLUG1WYkNObG5xYU8rMXZ2cDA4UXg4WHVLREhTeHFpYWhKYWNFU24zcG1QTmNWeUVQR01WdUZJRWlPSkkvOW1vZzlWSW5ySkNmanJFMWVtVWRYZERLUFQwUEVwaVpkQ0tWTERHMGtjV1dNZFI4ejRHT0N2b2RhZ2djQU9JL2FvTmVCalhkQnhPcEttVldCTEpCQ2dUNGZ3V25CMEV5SGZoWWU2RFRldGlDbmtoRE1qSmJNK3VTZ21UcWJYc200OExKT3FWTlNzNVNlQlVqL0JxRE9vN3hBaCtuMkY1ZUFzT2J6amFveEREOTBRcmpYV2FnWlNsSkc3TVJySlNVKzg1MUdzZnY5VGJlUDdtNUxnMy9yc1F6YzRaSFJkQzlHejRheGh3Mm1yRTVWbzR0QUpQaTl0UmlNNTBGQ2hzdjhRRkRURmJEdUJkYVN0OHpvMVp3MmJFSnBTTENaeHFJUExHN0dKQU0zK1ZUcisyckNqMHZZM1FOckVmeTM3aDQ2THVkQllONTEwTTZKZGVXSVdremcwVzY1Rm8vTUlnS1hReUhXZE5Xd0M2TWc1aS8zRFMvVVpJL1hvZ2ZWRHgrZmFaUWZWU0phV1IrWU02cnAyY0taUGJNbEZrWXRXbkROMU9qSGoyTlNPUkd6aVRNekZHUnJDdG5BL2N3YWQ1Qm1HekV6akdQeGh4OW5XR1BQY2c5UXF0SGZPZlppREF2VFkxamRJNXZ6UzBmODh0b2tqZjVkOWZCTUhQOGM5dGhVSENkM3o3NS9mdEI0YVdmWXNEajJHZXAyVXdQeUxZVXYvQTZZUUhKZkhIMGJJQUFBQUFFbEZUa1N1UW1DQyIKfQo="/>
    </extobj>
    <extobj name="334E55B0-647D-440b-865C-3EC943EB4CBC-4">
      <extobjdata type="334E55B0-647D-440b-865C-3EC943EB4CBC" data="ewoJIkltZ1NldHRpbmdKc29uIiA6ICJ7XCJkcGlcIjpcIjYwMFwiLFwiZm9ybWF0XCI6XCJQTkdcIixcInRyYW5zcGFyZW50XCI6dHJ1ZSxcImF1dG9cIjpmYWxzZX0iLAoJIkxhdGV4IiA6ICJYRnNLWEc5d1pYSmhkRzl5Ym1GdFpYdEJkSFJsYm5ScGIyNTlLRkVzSUVzc0lGWXBDajBLWEc5d1pYSmhkRzl5Ym1GdFpYdHpiMlowYldGNGZWeHNaV1owS0FwY1puSmhZM3RSUzE1N1hIUnZjSDE5ZTF4emNYSjBlMlJmYTMxOUNseHlhV2RvZENsV0NseGQiLAoJIkxhdGV4SW1nQmFzZTY0IiA6ICJpVkJPUncwS0dnb0FBQUFOU1VoRVVnQUFCZTRBQUFET0JBTUFBQUM2TzQ5bEFBQUFNRkJNVkVYLy8vOEFBQUFBQUFBQUFBQUFBQUFBQUFBQUFBQUFBQUFBQUFBQUFBQUFBQUFBQUFBQUFBQUFBQUFBQUFBQUFBQXYzYUI3QUFBQUQzUlNUbE1BRUpraXE3dG1pYzNkTW5idlJGUXQwblhxQUFBQUNYQklXWE1BQUE3RUFBQU94QUdWS3c0YkFBQWdBRWxFUVZSNEFlMTlmWkFreVZWZjkvWis3ODZIalVSSXhEbDZXT2tNV0dGNndHSE1XVUFQa25BSUJPN1ZJZHVTRGVvUkg4R1hJbVk0MnppUUlYb0FpYmdMd0QweUo2T1ZWdFNJSUd3VEZ1NGhBb2VNUTBRUEh6SXNMUFJZeUI5RUNIV2JnQUQ4Tll1NGszWjBvMHYvWGxaK1YyWlZkWFgzN0p3MjY0K3V6SmZ2dlh6MThtWG15NWRaMWJWYXZLSUd6cFFHR2duTFh2ZFh6NVNNVVppb2dYbHI0RnJXNmdFNW5IYzFrVi9Vd0puU1FQMU50OFIxbTkyUnliZWZLUkdqTUZFREM5VEFOVFpaSVBmSU9tcmdiR29nMnYzWmJKY28xV0kxRU8xK3NmcU4zTSttQnFMZG44MTJpVkpCQTI4OVhwZ2FBbmFmL083Q2FveU1vd2JLYWVBU2U3WWNZZ1dzZ04xMzJYNEZacEVrYW1DT0d1aXhuVGx5czFrRjdQNHkrNVNORjNOUkE2ZXNnVXZzL3VKcUROaDlQV0ZyaTZzMGNvNGFLTlpBaS8xUU1WSlZqSURkMXg1aG42aktNdEpGRGN4QkErZlk4UUlQem9Uc3ZqRmlHM01RUHJLSUdxaW9nUmI3dFNEbFYvM1QyK3czSC8rZndmTGlncERkMXdaeHdDL1dYc1JZbUFad2hHd3Z3UHpxOTR2alpUL21Jc0E5djN2cjNVOCsrZFR0dThwOHI3R1RPN2NBc1NNMVFidGZZbXpiWlJ2elVRT25wWUVqOW55Z3Fvc0pPM25kNzMzT3g3K2VzZDkyVUdDMDZwSXgwTXNTc21ZaUIrMitkc1ErYVNMR2ROVEFLV29BRmh5SXBGOGJzV2NtWEpJL1k4emRadnJneTkvSXpmeitHNzdnVzRXMFMrZ2Z1STVmWjYwV3duWi9pY1VqYTZmWTBMRXFTd050OW95VlY1bUxNUHQxa1J2Nk9zY0ZHUGx6bG8yM0FIbXpCYW5Wd25aZjY3Sy9VTFhGUk5UQWFXcWdQbUs3M3ZvYWZYYThKMHN3S1dSN3gzbFkrWWJFNFBjdHhsNXRBWkRKc2Z0SEZocEljZ1dKK2FnQnJRRU0ybnM2WjZRd3hHL3I3Sml4bXpxWHBxN0E3Zzh0WUpkOW81V25USTdkWC9Vd3pkQkhRTlRBQWpUUUN5d3UwUjgrWTFTSG9NOXpScFlubTdCN0MzYk54eXZIN210YjhiQ0NwY0NZT1MwTndJSFo4TldGOThLUDE4MkN2anUyMXhDUGNZNno5WjVkTlVuU2RKN2RvM1BaRTBhV1BFS2lCaGFnQWJqWVhxNER4dDVwRmJRWk83QUF0VnJMbVFQT3MwMEhnN0o1ZHQ5ZzdGYzhKQkVVTmJCZ0RmUXRiMFpWaG1uQU9idUFvZGwxZEJMYkZXb2tQNm5valVTZTNjUFJrY0YvZ3lJbW93WVdyQUc0N1J1K0tzYk1QYnVBbm5CaVk5YmgzdDh6UUVmWmlBK1Y1dG85ZXRPbXdTSW1vd1pPUlFOdGR1Snh5V3NJdEdRY2I0RDJMWm1XQWRuUmtFc0JDODYxZTBSUll3aGY2ekNtVGtrRGZWOEVwbGI3aXF4VFUrdTZEdjQ1MlAyMmtyUGUveTJWdGhLNWRnOUhaNEZIL3kwNVlpWnFRR29BYnM2T1RCdDNqTUxaYVAyUU9VT3pIYjcvbUMrV1F6eno3UjVNTm8yYVl6SnE0QlEwMEdaczNWTU52RzZXY1gvR3pKa2Jtc0JTeE5lTW9WOEJlU0xmN3JGcytITWJQK2FpQmhhdGdiNS8zMmpvbWpqSjBYYWo5V05tK0NpZDN3bkptbS8zY0ovOHkrRVF1d2lQR3BoVkExaVpIbmg0MEtwMkp3TnZ1Z0dkSHRPOTVqRjdrOHNrTHJEN2RuWUZiVkxIZE5UQTNEVnczZTljMHpuNncweGxLNEJhd0w0TzN5LzdvNkVjdmNEdXNUcmV0ZGpHVE5UQWdqWFFjMFB5YVgxRDA0RlJJcERkbTA2L0diNXY1YnhBVW1EM1dFUG5FS3ZhWXlKcVlGNGFnT1g2VEk0TTJqeVNKcW9qdTk4enFzYUtWSHBETHpreEN3d2NTaGJZZlczbzczd09sNWlOR3BpWEJuQisvc0REaStMeU8xazQyYjNwL2VCdEtSSERXUnE5UG91dUlFVjJEMmRyV3lISFJOVEF3alV3OEx2M1RSajBaclp5QWs4TXNGNEZESE8vZkZaazk5aERpSkZNUTY4eHVXZ05kUDBlUmdzRzdxa2F2Y1FhNzJuODUyZ3Y5czRhaWtPUjNkZndPcU5Dam9tb2dVVnJBT0hLNXp4MWtIdnYrNUxaRWVCN0J2NVlySDZ2SnI3VmdFWXN0UHVlZi9OTWM0aXBxSUU1YWdDN3NnY2VkaGRoMzUvMndHR2UxdVl1OHR5LzJYTDNzeHphUXJ0dnN2aWxURWRuTWJ0QURjQngyZmV3SjcvOXdBUHZBRzZDKzJuVWgxYkJWbjh3Y1NoOTBab2wzRkxrd1NFNitCNjlSTkJpTkFCRDlqRnV3NDdYUEFXSnMxOEx0SHUxV3FNUCsvZmlTeGFOT3pJVnVPT2xLNTlmRmNDTzRLaUJtVFFRTXJjaDdOaU1WNHBLeU8wMzM0MFM0ZnVQZllJR2ZIU0FHYTZ1dlNFMkE2ZElHalZRcEFIWXE4K05wM1Aydm5tQTNqSXhkN25TOEQxZU5rSC84YTZQaStyWDVXTy93NlVSWWlwcVlHNGFXQWtjaklFWkgzc3FJVHMzWDQzaTRmdDZGeStiZFAwRUhoNEJFTTdnSHdTS0lqaHFZTTRhMlBLUHNuUVkwK2R1dTh0ZGRCdFcrd0M5YkRKR3l1TVlsUmNYTzFlaEw5T1daeEl4b3daS2FTRHhlOVVVeGpUOUdjbXJDZmlhek9BK1J2aitJajloUU85ZDNUUktwazVpNlJCZk5weGFhNUdna2dhd0xqV1hxWW9ITFZOOWZqK21CK3VZUWcvVFFvY1AwOVJUVEE5SXNTcWQ2Tm83WXFYcEltTFV3TFFhd0s2VjU5QmxyUWE0Tnp6VGQ4S1l5RFB4c2dsU1BzK292RVRvVTJ2bHNTTm0xRUIxRFRRRGkwbnk0M2V5YkNtTWFaMXFRRjYrYk5KQ0VuNSs5V3NsSUV0MWpwRXlhc0N2QVl5eDI3NlNnTGVPdGFlMXEwcmhlOWtQMmtqdiszaVZoZUZBZEZ6WWxsVld4SnRKQS8yQVQ0M2o4RDZuZzdyRG1sR2hQbjJmdWtZSFJ0blV5ZEJhWTJwR2tTQnFJRjhEMkcwNjhXS1EzWHNtZ2pIQTZ3WUJEOStMUEkzOXM0M1hveGtkSlVPd21Jd2F5TkVBeG12L1dwUU0ydU8wWUhxdzhGZUFwdGduZ2RpUVFpaEt0THh2dWhSUnhmS29nV2sxQUwvRlAwUlRQR2N6dzQyR2RPdUwzV016NXI2RlVuTXl5SkFYQVk2OGEra2lxbGdlTlRDdEJ0cithR1d0Um45YXRabmhSclBBeElUMmpJL24xR2p3WHpOTHAwMkRRVHlLUEszU0luNEZEUXhEZTZ5MFlNMzZPV1BYayttYjRYL2E2NXJKYnRHdGZIdkVGWjRya2tRTjVHa0FkcnZwTGFkemw5dVprc1ExYkdEZFUxZ3pIOGxFbE5TN2VheHFpSW1vZ1hsb2dMYWgvQjQ1bFd5NFZkQWtNREdCenFjRXU2SG9rRW1Ua3laMk9jV3hLR3BnUGhyQW1ScmZZV05panBsZzE2MWtvRGVwMGlMYXhqSm1oVEd5RTVkb212eG9SdnBwNm9xNEQ2OEdFTFVKZmZTbXB6eVlqeVlmbnFRcVN0dzVnS0kraDFwOXRLdTFvN1BUcHpvekxveW5yekZTUEl3YVdER1hwYllDMmpMQytlWHNtTjFmcFVLc1crL2JTS0EzSFpQUU54aHNvcHpjbG1lU3lVR1BSVkVEbFRRd2NOZXBtZ3NDbWZ3N1RsZEhQMUZydEhhb0FGYjVUbzFBS2RCYlBRSGR3TnJXc3JHTGM4MndQTVhFRVNOcW9LUUdodUh4bFlJek5Nby9RbzdRT1Fvdll0TXFIZmMxYzlCYmZsSkxFR21NNlZMQmJiVHAyRVRzcUlGY0RmUmRoOTNBaGczVGtyVkxQdzBhMVkreXlGM0hUMnJEN3ZjTkh0TW1NY25NTkY5TVcxL0VmemcxQURQZEREMzVTL25yVTFmVGVFOTN2WWFJZnNZbVFXOXRWTkYrN2tHSVlRazQ0a09oK0ZJSjZoY2V5dkw3enBqTWpmOTh4Z1JhaURoMDNHWXZ4Qm1PRGphUnpxWEhkM3I3dFY2Mmp4RDlya2xQY2MxWmRsd3BnTDlxTXZ3c1Q3ZCs3YXc5WUhMenJFbTBBSGxvSHlyTUZuN05XdTF5T3A0UE43NmNzUjl4Y2VrUXo0WUpKSVluc3hndTZDY213d3JwK28zMUNsUVBoT1I4ZU5SNUlQS2cwcGU2UzdnSEpjZ2k2MFg0M1FySDJIVWhLdm1wMnBWN0hMajFYbmZMQ3VENkVHYTZheEtocXpEMmt5Wmt5blF5ZXdELy9HeGZkWmhTNEpuUXU1K1ppWHdSeEkyUkU3SmJSQ1VQbWlkZUxySENNWTQ4SDJEczlSZlM4WDRMVG84OWpMN3lpZGYweWNyWkcxNzFmWUx1Vzc2ZUE5alRyM0FZbGM5Mm5JNVVubEpoTm1mOHFvTml0UERFWmUvaXF2RW5ieHFkdk9PTFZ4ZGV2YitDd2ZGcDEvektON0duTi8zQ0xBamFsbnRUZnY3MUxtTlA4STd4U3Z3cGcyMzJkSTVCWFh1Y25uYXR4SFhvWjFnTVJmK3lGc3JGRkJtTXJkeStuRUYvZ0lDT2I5RDVOMG1xdy92N3haTFZFM2IzMXJ1ZmZQS3AyM2RWek9FYU83bHpDeEJ2WE8ybDdBN1FuN3gxZTJRVUQ4SGt5U2R2ajlMM3BKZG4yM0V2RnRyRitLK00zUm1kbEhoYWw3QjYvcWpnaXpkTFpOeHYrNXlQZnovMnNJVFpYNU1tM1dKM29kOG5uN3AxVi9wS3kreUVXdUhXM1ZIMUlXUGdCRWJGczVWb0w2V0YvZ3NsSkhUSjU1QjlGMk8vL3N0ZjhwVi9OR0lsVElIaUN2S1NCMWtwcE1hdk5hVVJuUmlMTXR4MGNTS0E0dTltZXFmN3R6TTRCUEFMdFo4NzNiR3FwODdnYU5WWXFTWGh1VEF4R0dDSDlxYUZNTy9NaW1jWmdUckdvbWx3VzFOVkpnSm90eE1kSk4xVE9BdE9MUGQvcW5vTlkwL282a09NL1YzT2NUbGhKNU5DM2g5OCtSdTVFdTYvNFF1K1ZTQ0xKanQrM2FxSCt0b1RyMDJWOW9aWDZPS1AwT2pHMkR0ZWxoSmNNYVlDRDRzNWd6Qmx2Yk1XUGhZODU5b0VPenp3YmdIbmYvZmEyeWZ2L3F2ckhXbGNuZjBDZ3RtS3NXR2IyU1FBeHpMdEpTcDJqb2pPSms0UmRhdFlnVUVXOVZFMjR2dFd4bDZ0bnlOMVBJSU0wZ0k2R3ZpY05tSUFJUlI3c3dVeFdUeUMwdU5ERTFLcmR3QjZpd1ExbU84N2ViSjAzdmVYVXZ5UDJteXhkbVdMamVvMmJFZ28xeEhiU1kzQWNmMFEzYlR3Y0lTcHNMMUVWYk51blUwak1ma1pQaCs5RkkvTFdVY2FzZUwzS05weHVjYkp4SkxwR0pYc1BJcVpUcENOdVo5elhMSE1ibmlhVzRjdGhwZ1dmQjErTmtCTHVkQVVUUy9iNVdyb2lqbjU4b0oxRXQ1UktHNnY5RW5hZUtqVEdyQ292U29yWkNzemhPQVJqVjZFVGlWOTlydzJvclBmOXZEZFpkK1lRMEI5OVo1VGZwbU1UMTNYeXhxRm9xaWV3RWJsVGZvUHFPeWVhSFdlaFpTa2dra2hGa2ZvaTNtb1ZXcnVMY2ZUaDBVYVdQVVYwS200Z3ZaS3lZYkE4N2hLL1luTjFjM2JwZUhjNVhUL09rVWdIeU5uNHkvTUJTWDFySlJkMjRLSDFpZ2NZdFowUmJpV3YyTk81dzNka05tS1pRWVhUMjNjNE44YW0rREprblQ0cU5vb0lkMEU0R1JrZTRFeUI1eWtDNEZ6R1pVNWVMTm15YnJ0MFV0eUxHNnZGRE1CaHhOSnBPL0pSS2NwNWVidDBuRHVpbW4zTk43ZkQrUG1scHpQcVBJeFo4c1BIcHM1REFlNEhiblRRby8rakNEbmdzenVmRGkwUjdPazZqUGwxQm9vYXFianhvdnVmRFVoVkcyVUFQTVFtSm90Vk9iQVI0eFVzNVFZNFJRSFl6NVpzdTU5UDZ2aTlpSzZCa3VBbU8wNm80bk4xYzNicGVIY2RkUHVTZHJzNGpSTWJKWU1YRlZpeWorMkxCYmNQUjNZNUVIcGxoTUJPKy9kRERPb1JwbE5tL3BveHlpbmc3Y1RLNy9BekpFMWJsUnRsQ2tGeElCU1FyR2NLWlQxZFgvcFg4T2tySmFac3I0eTZMQ2tOVDllY1hzUjNTVTI5ckp3bTlMTisrdk1RbGRNdTZjbDVFWVdweFJFcnBnVU11UjJqZ2gwZzJPQUlpSVh3Wm9WR2tuUk1aRyswMUZvV2JsdU1LelZyckFESzcvQXpORDZrL3FxalRLbGdOZkx6OUxRTHIrTWRkZVVsWlZFUjBVN2Z0VGk5aUs2SzhjVTREaHdXVFFjbGJwNUZ6K1liMXQyZi9YUk5Ob2VSQThXWEhYZGUzaDRKN2I1MGE3RlFaQ0JLS0RZeEQwRDZVZ0duQTJZbmV4azFqOEQyODFCV05FQjJBem1tV3VaYXFqY0tGTkt0Q0plSlN4QkJxUGoxMjRKM0psUXVzRzJMbTR2cW5qd0tWb2laUHppaTQ3ZHUvblNNbTlaZGwrYUxJTjR3WFd5QjFtcDBUNkZCa2pmT2RyUjNQSEhranJqVC9YY0JVRXRjVnExWHRvTjhOY3dCYlJyUnJBcU44b1VGUkpxMjRxYjVSTEQ2UGkxbDRzMWg4SldOdG9ndVBZSzI0c1FlMzlSRzNtNjgzbkg3dDE4YWNuVC96UXFqUjVFYkRvN2hnMUl2ZTlnSTF4VTZJZmFvZTk2SDM4c1dYQnR1YkhYYTVuZ1JzZlJWZ0hIR1lxN1pzK3UzQ2hUQ2pBb01aNElsbEFXWFZVWGNlVUZHMmFqRFZvRU8xYWViUzlnam5iNWZxVmI0WFduSmQyOGl4L01qK1kwM2crZElEbTI1VExSZXRxeVdBOUtraGJZNGZ1UEZjUnlpR1lNcmhiVGRpYnNPemFuRUF0MzNobkw3aXMzeXBSU0hXVlc5a0VHVFNnTDEyWVFZVjRGWVpuR3FOK3FKZHRldGRwVkRKcUVPTEV3cWJGdGlKdDMwSVBaSlRZbnUwOGNpKzU2NWpueTJEYURvcVFGVGVBb2xHdE9aMUlGWnFJTmlsVVQwTFcrY0UwbEs1a2RYUk4vbm1uTDdxczJ5clFDRFlOamE0WVRoZnBQWTdnbm93MU1LbTBJVU5CZWFXZ0N5L1ZNbEtYcjJMMmJ6enh3QUhCaFRuWi9sZDIzYXFDaGZkT0NJRU5oMHBzdTBNbVB6ZGhFNTNlY1VsOTJCVnozaklKbFJ6VW91bUI2M1FicS9KT1czVmR0bEduRjZtVlBhZ1JaQUpjZDd3V0w1MWJRRHE0NVNyUlhyWFlkNWtRdTd6MWJJTVRHSnliRXpadGx1ZW5Cbk96K25HTlpBOU44cFFSMVBNaUJ6QVR1UFVOZmp4MnZCN0JNTUEwTEV3UHdTTWEvd3JrQjI2TTBzT2VjTk8yK2NxTk1LMU1uWXg5aERsZS9pUDNMdzNEeDNFcWFtU2liWkYyaXZlRFBJQUFDL2JuV0NTOTRJdm5RM2MyYlpibnB4T1djaXgwdVhIRkNUdjFzTkFmRWVCQ25BMmM0R29UTG1Wa3VnMDBBT3JpM2I1UzAzRk5xZktMWk16QVdtRFR0dm5LalRDc2ZkSFl3TGMyaThWYzg2N3UwemhMdGhkMUxhc1JSaGtmSHNYczNYL2Fwc0Rjd0gvOStiQnMwdVRrN1dTRUFkWS9TT0VnMEpjaXUwUW80aUE0SjdXK3NhUml0aURKWDRnTm1zT1lBTU8yK2FxTk1MVVl5dytueHFTc3JTYkRpbS9BNWJabjJxdkVkOXg1YWR0V3NqMGduQnNETkcwWDVTVFROZk95K1o1dDVFd0llWnFzRzFEMUs0eURSMG5jbmhiM2taTThwOUdmcHlPdE5YWFRGNTlKMFRBeU5PLytVWWZlVkcyVnFxYlRPcGlaZEdBRW11eE0vOHpMdHRjUVhod004MktiQlpEa0JZS0lCYnA2WGZPNXJSNy81RC9ZRTB0LytieDk4OUtuZlJXYjVpMFozRkxUMlorQmoyUDNuZmZ3N1h2Nm1YeGNrZEt0LzIxTW43M2liQWpSKy9udWVlT1B0Q2ZKL2VQdmtYUm9PUU4rT3ZMVDh2UjNWWlhiZ0ZIZWVJS1ZzODlUUzZQVjJVU2hISVlwZFhUajAxYkNsSmhHTk9HM3F2NzlwZFB6RGg3V2xYOVdFbi92YVJPdVlnN1hkTzQxaTZlN2RQNWp5V1BwQ3N6VTRETFhjK1VmcnVvb1NLWm9qalk1Zmd1SVVVTWliOFZkVHByM084M0VlZmNkNHNNYTNKTWlMYXcvT3E1TlBhK052TjdQamZaNmpUVkJ1NGRkRzdDN1c4eE1PL2JJdkVreHc0OFB3aVBMR3VZQ0xmVWFuNG41ak5XVkpIMWJFQmVJUHNSUGcvclFBMDgzcWh6VnFDWStUUW1Dam14bmtLa25xT3VTNVlka2pKRFJGM0ZNTUd0NUZ3YUJvbmxIMG9VVDlCOWo5VjMxTmNySjVwSmZOM3dsVllsajdYa0ZEZ29qcjA1bEc4ZW51SWw2akIvM0VxUE1IOEZJNnVHNUtVSXRla1gvcTlvamE1OW9KWHFKSE90V1B4RWpEWkJzNmV6WlNkS1JkMm8wdFVabjJXdUZLcGtGUSs4VnBDRllvZUM5OXlVSGtHRU9lWDMrVHNYOWNxNzlWaEt5azNUZjZ2N0ZYdzBDVTJ2YVdvdkxiUFU2ci91aHE3YTkwMkhPQ3FXeTdMejk1VzQzbWlnMEI1NS9ZM1ZNWmJ3U0tTbW1CN2h1TkRjb1ZvUERzaTBzdjFTZzZxclZ6NGNTbjdSVmZOelNxTFU0ZXNiOEdwUHFIOEExNWlmejc3UDViYXZXUHFsVzFhZmR1STZreHc5QmR2ZnVKdlJvK2RhQTdVdTMvc0wrelhtdjBkRjlvaVRiaWRpL1NydDFUdld0U3FMTnlKeTl2M1N0TW1mWTY0cU1tWWVyaGMrbkdqUnRkeGg3SDdjWU5OTEticDhxZ2RuNEF2SldPcnczKyt2WHp0YS80QkJrRnh0UTFRdnJJalJ1UFlzWE0rWHcrQVQ2SXJESGVkOUtYQlBHMjZudW90RmI3V3kvdkEySFNHSEhzdm5FRUN6MHpSVWwvbTBCYk13RnBtcm9mTldET05SWU8wdFdrcUlkb0poYlhWR082TUUxZE1SN0xMU3VWdnlRL3J0ZFJkbjllRENvdkV2ZGFBNXJFWnlOSW41K2ZhUlNQN3RMV3dNQzRJVVc0eExobTYxMmwyajk4VFlMSFkveU5NNHhEdUU3ZTdwb1RxWFZic2pncmR3cStIL3FGUVltMkFuOTdkZEtCRE9hbVJobk9hd3ZtWnpKMTgwTVJUa2Z0QWcrdnVqNWZUOCtEdzkyUTlhSi9XSTdIaXd5N2Y0bTBGU0RKSjJoQWtza2pLVWxUenk3WUdMSldreENIN1pueXBXbjBqcUtOMDU0STM0T0RNUXhtV1ptUWtma1F6dEY3Z1hlZUJSWlpKcCs4OUpaOHZ2T3lKZXA5YWE5YlJoZnRHbUxqR1NZR1QwZDNoL1hSSnBXaU5kUWNLQThKWXJEY29USzY2Q1Y1OWtNOFNXUG9lMTJyVHlmOGZZNXdobjRvb2pmeHkxT2l2WVJiUHdTVFZaT0pvMUk2TjI5V0FuUGZTTkg3MHREZ1l6eC9XU2k0bzZ6VXRYczBndlR2RzRua2dUbGF6VFlEVk5SUGV3RmFZVmZLZE4xb2JzRDZHSlpra1hHbmRydG41RDFKVUpLUU5Gb0Vwc2tzRVdqVVdzQTllaSt3d1M5TE53V2tybTB6dVovU1BhWTBoZkYyVS9MS3NYdjZVeEZUZC9JTno0N1NWWVA5MkhyS0tGRURQdHg2cUNMbGozbmY5M2xuTktJV1FBcnlvTzg1ZGwvY1hzdmllWnA0c24zelNiWnNPM2Z0L2tnWjlvQ0pac0xLOC9randXT3NiTXExZTJ3VlNMdS9vbmpnM1JjMTRLOHc5ditFdXcrM1V1MFFyUmp0bEM2ME1tZkRJUDRWUE1hQitSalpORERRTXhwOTZNYm5LV1VKQU9ub3pvcGoyMTRVdElLd0tLTzQvdk4vRUxwYzVFdTZ2MjRKaFNhNjEvZDByOGl6ZTBkM1c5dXBMRWRxYmtUdkZMTXZXbWlpSkcxSlZUVFk4YXFDNmtTT2lXbWswMDdsZE1iaTlyb2dSbm1LY3V5WWttK1pla0dCbmNlNElMMFhlSStiS1NHV0NIY0VpNmJxUlJtN1Q1VGRkN1JWMXhMMks0SjBoYkczN3FacHpBMXl3VnRyNnlRS3FTSEUxQ0xJMGh2cU5lSlNWcEhJMEJKdHAxYjcyQ2Rvd0wvbncvREFlb1lYMkJmQ09XZ1lrZzhkRVA3NUJuVUVMdlZnZ3VpS1Z2OUthdmVZdTlZbHh5dE1MYVlMN043UTNhZU0xdGhPT2RFTy9pcFBvc0YzSkhjNGthSTVMd3AvUjVXa0NWSjM5dWtjcE5QTzV0aDlyN0M5bXNMSEpTWnFiS1Vuc08zY3pVTnJ1K0k1MGVBaU9XTEhzalBBZU5mUzhvemQ5NlhkbytTbTRFSHM1YXlCcGtrbUFtNmN3QmhyVHdpRmFDaXYwUjRCdmltSS9UZGFBV3hqZnRta3BieHJmSDRTL3ZBbm91eGF3QURnNVcxbXlNZW9JM0M1YTR1bU5zTUxxU3EyRE04T3V0b1IzUFBzM3RhZEdwclFHaHNwTlZKQ1RKaXlidS82U1BTeEs5N2hucWJqd0dNTG9SN0VqVXgyMzEveGx2YUNBKzBsMXprWVdtMHJBT25FWkdybmo0d3ExUnAycEhwQURRMGdiRHBzOTAyemhoV1ZBYWxjNGNFblV1WmhMdTNvMksrdXk1U3lCL2k2Q2Npa2FXSTdySGZ4c2tuWHFDaURaZ1BHSUJLUXB2VFNiQXc2Q2JydGdHcTE4MUJKNEhxZmd6elEvZmdTdDN1MGlCeEZnS296QlhadjZFNTVmRkRwVGxvZDZTMjFGZlJUdGFUaS96YTRTeGdkM1JkU2d2U1g3SDdQQkp5Rk5BV1owbWZKU0ROR2tRQUcycXQ3VDVSM0hTdllVb2FZSXRqNXZxRUhGUkliNmFhSG43MlQwb1h0dnFka0E2WmV3cUtSbEFlZHNIVG9BMEtQeVFnUjhSM2d3ZFlvNFZ5UVN3N01Ub25NcnBCS1BrQXZtNHlST3BUZy9Ic2JxT3NwU3Zib3ZTQlZZMm8rcTFEcFFBODdGL2xEdzlaazI0QkdCd29LN043UW5kSVFXbU0zclpmV1Ara3pvMXNaQ3lTMEV1VXVCaFJDUHVGZXl1SHMvSkxkYi92RmFhTm9QUzN5dDFkZFRvRGsxMGhVVG9EOHhHUnE1ZUVrYS9QcVNlTWNTWjN5OWFYUWRORHVvWGhsMU54aEY4TVA3RjU1N29rZStsdkd0TXdkRDQ5YndYZHhqZFkwNVpmcE1hcTl5UFZGTm5CVGd2UHZLMEE5NUNneURwREZWejA5VzFRRzB0VDZYdUpUQ2dBN21uQW8vUk5NVTJvT3pEaWp0dTVVQTJLT08waFp3VllrdGJGVVIxbUg4M2RmbDVmMW4wbTdwNVhhdHBUUXZoZTJsMzR2R1dxMnVHenBkdUE4clR6MElOWEgvN1F4clhVazEweWw3RjRNTVVKZ1RMdWlGNkR0MU42b1lmY2REUVZKQzlMdUNWTGpCcDZtYzJDVXFHUVBJMXY2eGk4aCs2ZDFoU3dUa0VsME0zcGJ3WDlaWnVwSHlZT2lDcjdsUnpqL2hYNmc4RFc2cDlkQXNTK3dlME4zYWh6VGRsLzcwMk5wS21ZVDhnYjdkSzArV3BQMTJYY0tEKy9ab0FlZkk3dGY4NHRSMkY2WHBSdkVWNHE3Qmhlb2ZXSms3YUdGR2trVmpxVk9SdHB4MFROcmNMekgwdFJ3TURINmkwQURlTitUdklOMjN3VzZSREx1NUx3ZkdIbFBzZytVNDNWZWdKUitDZytxQmhIZjFGNTZ3WjZpZkFsTk5rMktYR2djU3RCWFYzWTFEbXFxMGFEQTdnM2RLUTBaZHEvNTIzYVA1Y2x4N1hLb1U1UGRwenJUOUE4OGxXUDNoZTNWVnFzMDhwWk1EenJYN3R2bUluZ2dmUURzb0V0bGxMRDdGY3Z1c1hBVC9ReDJmeURaR0hiZnRjWjdXSyt2alpyZ3NpK0ovWGRnU04rdWhlU3FIOHVCVXJ0dkVPeXFOU2RhV0NNdHRnVXZtYUdPejlqVDM2M1FrZHRVR1ZySVA1L21DdXorUU5Ja2VtUW9ZZmMwcm0wRS95dVN3bWNCdTRkZ0M3L2tJOWwzdUFpeUplMEN2bHJNYjYvaHMvOU1YRStBaTFvVGdRLzBNREhaV1hsa1JDc0FwU2t4RWNlVUZMRDdnelFkSE8vSEpnLys1c3NHcDREZDc2YWs5R1V6MVpQNmVoWkFhV0tQVmhKL3lJb3NtUWFKNXdSNkcrbUNYaUl3YVREZW9mUmxKWThvMGJjWjdaNFVUdGY5dDZVc1NkQ0o1ZzZ0aUNHcXdPNTl1b1BkMzlPc2tHcjgrKzk0dWFOQmRPMW5BNnZhTkd5OGJuRlFtUlV1OVdKL1ZHVldJc2Z1QzlzcnNRUTJHOVd5YzlSbjVZZVlGZitldlBweVlKck83c0h3TThaelFKSWRuaTFsOXlPL2l3SW1CWjRMYVdSYlZFdWoySUZJNTk5b0tjQXh0MHlSYlpyRXNTMjd0RGhIZTBQOCttbU9TMVVlYWlvTUpHS0NtOTN1dit3TDA0cjBFbzNxU2ZTQW9Lc1ZLZklienFUZDM4eUl5Z0ZGN1FXdnpycjJOQnZMemdHMjhqMkxpcDJrZE5QWlBYaVlScFRJWWI2czNadVRreENieHNpZy81M2lVQXRLY3lKMFBXMEpIdDRiRFMzM1VLTERYMW0wV2NkN25CQVdGejhpUmgxVUNvcktZUGZIYVowejIvMTNJaGozdXYrNzdvejN0Ylk3S1JpUCtFTHpjNHJhNjVLeFNvZTlzVFg5ckphZEEyemxPL1phUUZCTlovY3RtMGNpMVI2dys0eC9MNzBWTFRKLy8zdk55SHVTSzNoS0JVYWQ5cGluU3B3RU9kL1VvZEtYZEp4Q2tSMXA5OHlQVUFTdFE2djg0c09JRXpxRTNRdTVaN1Q3T3ZUKzNuWEk0ajQ3Rm5ocXNlZUttbVAzTHVycDVYUDhuS0wydW1KNE5xVG9BeTMxbHVWZUxzRHUwY3JtT2pvcHNIczdqdG0xRjhWQzdERkdzbFg5Q0w0VVVQU0NHTThZbXI0ZFdpRFM1RFEySWxBT0J2YVdkMTNRbFBuNmYwQTFkSkZlYUNtOXB4bk16ZTZIalAwTHp0YTFlenJpdXFrcnRGS09NRmJaQTh1UTNhOEZha2RSWG51Wlp3dUpqZUY0NU5wOXo3WlpVZm5VNDcxUkhYM1I0WUR6Q1l6M3R0MTN2SGFQbGl2eVd5QzVkcEJXOE1oclF2ajhXNUxXNXo5Nm41TEs5VWsrby96U3hyZWhvdFNqb1dISThIT2dGVEZHelRiZTR5VUo4Znl1M1pOUGJBNUVwcVJuMHU3SlRWMHpwVFRTU1g1N1dkRm9XSjZ4S056S0crK0hWaGVSOVUxbjkrQmhHaWtlSWgwdkEzWnY3OWYyZklzd1VzUk5LVXpnanE2aGV4dlpsdHJuQ1JDazRDNDNGOU10ektBWDE1MGg4UURxZndpWmFPVk55OXlKUmtBWG5ZZC9UOS9TRmIzSnRmdkJNNGhEcitvYXpSUXBhczhFbklVME5UY1U1YjI2K2UyVjdCcFVQVFdrRUZEYS9TVXhQRmo1SSs5d20yLzNQU0dqUEk4SmhvN2QzK1RDQk95K1o5Z3IzeVBXdzdaOEJ2SUZWbVVtY0FmS1BWVkV5M3JQTWtHVjYwU0xPNy90YkowS0JTN2xoc3FvUlBuejk0cms0b2lMU01QdlJBRXBmaStXSXI3eFhqWlNRSGRZekl1SHhzRm8yZTBWdzdTUyt1am1JTmgxbmNsSGkvVWdVM2wybjk5ZTluV1QxcFlBQUJhN1NVUkJWQWVROE5oeUxNRGpiQW0xUzVWYStiYlhYcWF6ZTFSbmVzdW9mSTFyTWRCMlIxWXZhZm9XWVQyN0ovbmFoSnk1SFYzUXRicTZobWRTUTc0czZCOWtDaFFBZldoYlpXUmlpdlAzanlocU9CVlFERW02S2Zud0E2aGlNcDdKN3ZIQSs0S3BZL2NYamxjeHhRUkdBU2U0cE1WNmtDbmFhWlVQNDhxUjMxNzJLM00wWEc0b0JwYWRBMnJsZ2VwWiswOW45N0J2WS9pa29mZVFWeDZ3KzRIVlN6Q0NpV2xmQ2N3dEphUUhpVVhldzdiTXBFY3lKem9iVGgxUkI5R0htVHlJR0gwMk0rQXhxZ3RjYmlCcGNFOVJkN2kvT2JJa2JhdUJlaGE3UjJjU3F3UVp6L2tEV1N1NXZGM1pCaElvNzJUM0U1azVLM2V5KzgyQU1QbnRaUit5b29mVHlyZnNITnl0UEZBelprZGJyZ3FJam5HUWlvVDVPblZuWEQ4SGM2ZlI5bmdJMFNJQnUyK2F2WVMvQ0pIeVgvcmFremVuS1g5blRNdmtMd1hrRG1XR1I4WE40VjhYdUtrQjZHcWV6OEZxUER5QXdWakFwemgvUDViK0I3N1V5eFhUc3J5T0k2WFFXZXdlajY5R2RLNytxN0xGK0NlZU1UM0p0OTcwZzFIcVRObzllWUtidHB3cWw5OWVZNlVFSXFBaFYzdmNXM2wrRHFHdXFrcHFQNXVtcDdON0RKQnE3T0dhRlROSXdPNno3OWRPdU5COWxvaDM0MkFvTzFvbWYycUY3RmRmZVRFTWpZVlVFM1RyNHRNVFZvSEtZQ1paVjVrS2liR09LVnppNDhkWVdUcHg2Nm01ZUJhN2IrdDlQYXhITU93b3UyK1RLV0E2MEVGZTh4bWNSYlpaOU9EU3pncklFcVRKOHRxclpRY3pFdE43T1JKMmYxNzBEVHZmc2JxYStQeUIxKzR4RHFhZHFiT2ZTaWJYdFJRdjFuMEhqb3ZZYVEzWS9SVzdTU0RBQnZIN3dQM0QycGZ5eG9JYWpqVy90SzdNNzhCcFdhaEgyMXNHV3dOV2dQZ0hRVytTOERCOWFmUUtxYkVlQkpiNW8wSWpSdk5BV2FKYm1YWi81RFJTUUhkcVhUdldNenBzM0xUN1pJTmtIaksyUm5mM0lydmZkSUVQT3AvWEdmUGJhM1RUa2gxUHJkdHVJSjVVZm92Q3pyZGwxSkVZWEJWVVhydUhmdFBsYTMrU1ZxYnNmbXd1UzhCd0xTMFB0TjBGcGcwRGlNQW5xNmlQdHZIYjJzUVAyUEVOZmlUNXRmVG9OOGlrdmcrdFJVVjZqdC91TEI5NXc2RkdWeWxhKy95UzlBa1UxRXc0My9jeGkwcWx4enBRMk9DTEo4eUhlanJHQkN2N3AybjNkcU9RaDZRM3p4S3RNR1gzVzNvT2dkVVlkbjgrVlM3OElEM2pHMkxUMExwcDVNOUVrcHd2WDF1UmNMbnR0V3d1OFlEY0JxTUpVZEdGREpsVTdZcll5N0R6R04yMFAzcEJlQ2hldTBlTHBjdlhaSS9ZMFpkdkJEcVVmTUFoOU5OVGczK2c3ZEJPcG9GQ0FHSjdnZk51NytCenRPWmtKVGp5QjZDMHVycW0zSURpcWV4UkhNbzBWdHVLanRZRndWMGRqblZkR2FZaW1pb3hsdjJleGhGdThGMXR1T1JneThIZnRIdUlielZTUUhmSzdvZDZ2QWZNc1B0aDJwcnEvWEpIZENqWHNSVUg0VUZrWVFKQnU4OXRyeXZPczFBbnVTbWZBQ3JrNlJXaGJ5ZWZHRzdIUUhnb1hydFg3NFpMczFWMkR5V3JRQ1o2aHh4b0FtMkhlV05QeW9aN1BlRVQvMkNYWUJjZ3dKR2FNRklzaXU1S2xpbUVmZ0dVOXNPQmFIMmo4d0UwQm1EQ2k2d2YwckUyVEt0SVpKcWUybng0SWRoWUM3YWN1bnhZWlc1SzdMYVdxbXRvM21tVXd2RWVTaEp0VlJ2M2ljOHliQi9YUmRudW1FQzRSbVc5NGc3bDV6KzlnMzhxV2RwRVhnL1VsTnRlUGJaamtSR3lzZ3BrRHFoMExQVGc1TDlDRHdDcHJ3RlVZNkdLQnVIVWdMYlNZV3ZwR0dtNjlEY1NvR1FwTit4dk95Mm1IWm9Ea1FTdWRtNE1LNkJpV01KTk1KOVErdEp6TkNDcVRrUWdmcjZGKy8wOEozNm9NNGpuU1NIa0kxcDBIUUIyVEJLTnAwWEpsdE9iN3RLaWZLWEZzTEdjQmtuMEhjS0hzU21XZlQwTGNYc1YvSnhHY1hTbm5GWU1hUGM0QlpUR3B4SmticlZKdDlkUzc2a25KejB3OUFTb2VjaGpROVE1MHcyTlcvWXFySWZHOU5VQUZyVnJxTDI4cGlLOXlCcE1oTTk5bmUyVXRaTkhWbzZtOHUwMFJBaVVwdkY4c2dlTjA5bm92SFFmOU1vU3M2YzB3cDVXZDFNMkV1b0ZSL1ZrWGJaaFBpU0lJV3VmRjE5N3BnRnJXRGVMdVllbnVwVXNvU0hDNGdJZHNCTlZCZEFTQUpTMVNUTHVSYW5uMVZBenRhVjdxd2t1blI3cmZqMFEwL2NSazJNRnhOeVFuTXl4d0dtVVd0T3ZPN1JHK2t6MC9PblRYbmdlbmVHd2xuN1g4ZDhxWjQ4RzltMVprM0VIK0thUnJacXM5OEdvNUZWWUI4M1ZJU1J5ektSOU9qaXZURkQyTWdOWTd3R2duenIxSXh2SzhKejhCeVJxUFhsbnlvUnNhRi93RytwMUdMb2xxYXd0K2dIMXhFT0I5VEYydk02VGFJOXRBYXYxOUpoRXVHc2FmaUNUL0w1Rk5BbFBYanhHZmZ0V0tYOWYySVhWZ2FhNkdrYy9Bb0Q5cEVIWlJWNE9pUWFZN09HbWtjOG1POW95czRVbElHUFZVUFZFREJGTEl5bGFSdy8zRnlISjV5dCtUcVAwdFBDa082blRvUnpGNlhnT2I2MTZkNXVQT2tlN1lQVS9nQ3Jha01iUVo5WVZlNVVBbURCbnZhamZsYjBLNjBMSGxlTkNCamZZWGovN3ByVCtkMjBLbXA5NU5Fa2hiNy94Z3h3RTl4SjZlNmtjcHVtYmQyWWVYZmZaUFVJY0hxL2k5K3FOUjZGVGR2TDRqZlhhbDk3NEptTDE0UnYwUFhlRVhLalI2Z21JOFIzckZPczFmNTFLYW8wa3RURjhvVjEwenArUnBDOVR1SS9mMk9QSVkyY2N2Z3FIYWJWTGRjTTlUVDlqemZIRUQ4RjBwd0h3bFUrOHBrOHc5b1pYZlovQStaYXY1d0QyOUNzVTVSWWdhczVUMEJyTlplczY2MG1OMktZSFdoNDBaczhJTy8wNTFZTWVFNzBaaGpuaG5PcXAvdGc3WHZYUFU4NW1vd1IwWjdYR0FFMUVyRDZFSnVteWswZXhabm81MThvSk5VL3RSU05TeVBIaldoOEV4WlVZem1jS3FmU0w2a3RmaFJYQWw4NDRzcElvMkY1SHN2NE5nYW9BY3NpQVVUNzdlMSttUTUxdS91S0kzZi9sTC9tcVZtcGNOTEdrMXlGZkcvSjBhc3hvdlcvK0cyL2xDeWpNeStrbGhsVHcrTVQvK3B6L25iQm51UDN5MVdtSzhCbHl0TVExNFNLdXlMNGhCSzY5R0tHWEZqVlg0ME9NdlZwQzFiM0wyR2hENWZnWGxDVkRzVUxtWFNPRkhVcEVESGduUGc5WGFrWGl1WGNNTU9JUjNKS1MrVEhiLzlqSmY4TEQvTEV4Mzd5VnNTOSsvMWY5a3ZpckFSU3FKeEF0YmphS2FrRmJkOHJXYUIxVGgxWk9YdkVkM1pQTld1MGxZSVovN3hVc2I1S2NiWkhKMkZQZmNLQUlzZUxWbVZGSlZyVXJjaGF6b0NJVGFxOGovbzh1dCs2cXNlWG9CSC8zZ2o5OHVYVjNKSXp5TDVNU0RCdHc4OWNTcnFWL3lHdGFabmY1WDhUY2hSTXpQcUcvamdHajFPN3JMY0xiSUxRbGpuWHJ0cXlpSm5pb3FmVklrbExiU1k0VElzVnF6NUNGUTJoKy90VDd2L0pQRW0zMnY4d0wrTSsxL251Yk96cUw5ZlhkTy9TUE5uaG0wYXpMRExXOW13VGxVMWFLK3grUGZ5SFQ2aWhKQ3ViNWE1S3BVZU5VU2J3S1VlK3drOXVZYnRZMUlVeWVMdG1yRzZsT0lMR1UwV2lVZ080R1VxVjgvYjdVNVF5L2w2cjR6cE1meFM5RFk2RkZVcnNuWEdoSWNsZUNkT1ppOXczZlZLcnFtRGJSOUllY1V6WkY3WlZYMmVlK2NmVDBub0hnNWh1LytPTW5iLzhGQXlHUXJILzdqeDkvWGFDTWVMd3I5WG9DR0JLOGxGMmdmM1RFRzVHZFNFZithaHFXa3lRck96STExVDNUNnFEdWlEa2l4T2lDSFJZS29ZWGhqMnhqTlA3RjVPVGRYN3hxSXIzeXRhTTdqeCthRUNmdE5vcFRuTW5XLytTMW8zZTlKUU11QUdEbyt2TUNsQkxGNStmQlJOVXpDSTNwaEZIVVhvckwyVStNMUhwWXlYcjFGNThhM2ZuaGJ6MHZaeTE1cUVJZ05Qa2dwckJMSnVwMjUwbXB4djhxbjdvNTF5Yk5yK3NCbEE0TGR1M0tpZFMyRmx6bGFNSllSeW9TNE1FcGFpOFB5VmtGOWFSMVp3UThMNTJRdGgyQ0hLeGxVRXNBcm5yV3RZVmt3N2syYVdGMXA0Mnc1ZXh6VjZ1L1ZSQWJtSTRyWlByMGRCUXZUT3ltY1VyYWZvSUxjckIxL3BOQi92dUtqVjJVV3hicm15SThxendwOElNczVCZGVadXhzNzFWNmducG1oVmFKalNUcXlWMEpDZmdzdlo5M0F6cnFPUytMRU1nNTZlZUxrbGFlWTZ5bzNjUzV6N2lRNG54ajFtVnRjUlVQRktPZHQ0WXNLOWs1SnhJTnVzLzcrQWUvNXNlcnpLK2c3Y3hsclYxVytBZUhGN1l0K1VkWkxTZE1OcW9rN1BWNzA1T2RZeFU2eS9UVlBEQ0tGVWFuMkdhOG1obEhGY2NpY0xseHVwTFZkQjhTdTBja2NzK3ZFdXhnN0tQazk1MHcyVlZmWU1iUHdZUU9kc3hjdVhTellEZTNISmV6aTNVNVoyKzB0TlM5VFB1aDRYRHhBR3RwTGdveFlXeEhaVDZiRTBIamd2cWVlZi9uZlpjYmF6dFhUYUg4TlArVWVzdzI2WlFNempnNkhUQ1lWY1I2ZHNwWSt1QS9HVlgyMGlIU3hxd3l2U0RvTDRYVzd6aXBrVjdiMW5NOFVzRmhvWE1WRnBOU21UbXYyRXJWZWFwSWROcG5kY1lhL2MySE1ldWdFbVBhdTZaWi9pRzRrb0FuaUZtWVg4NHhKWDZJWVdxMW5GTW5rc3FUWHBJQnBmSWtMeXhNT2pTeU42UEkxNzIrSU94K294SmpPaGt6cVVUNWdpTWFaM2V1K0RQSVkzNmZ0cDZvY1ZKcGhHcjdQeWxnc1hZejdSa1BwYm44emx5ZUJ0ZkpqRklOdmEzWDFPZXZwK05QVTlENmRDUXZWT3h6Z1NsUkhqRGJ0QjdzY2pYM3ZtOXpzVmlHTXYxcUsrZ1F1ek1JaDVGdHp5aVdPbE5rOFRtcWFyM3pXSEpZa3B6aFRPSVA5ZEtwVTF5T25iZHVWbm1TY3hYaWRSY0RuNTJwVXY4WnBVbXF1aVBxZVM0eWI2aFh2STZuMEVvbjVoSmlLbDNiZzBWc0I1ek1MVzczbTVad0Y2dTVPVnNWM0p5bWR3YTNwSG1oWnpvekJ3MnYrNk9PU2RYdy9ZcjNSWWtYdXA3OThpL0w5NEtjWW5yVmk3M0hCbzV0Yjk4dURPYVdBajByU0VBRjNTb25HM0k1bnJuQzRjeWJSRnZlQlFLbWFtZWFMdnZvemNxVVpXczRRM2pEZ0NQOU04bXhlNWo1VHlzdGVwWi9aUHFuUGZmWmZTYU5LMlE4OHlHd3hJbTJwWHBHVk1ZK1MxaGEvYk5MVkxxcUI0OTRxV0xRYTZHU0R5c3NDUllxMEFLWXp6eTZMdnRQVjhrdlFrd3Y4bkRtR1dqNk9oOGNSYTlDZEgzQjBpNmZ4YjQ0NzJmRzFxQS9wbEMyb2l2eXJMaE5BTDRiTnFSc2J2WVZSOW1hemdMZXRiTVhLUi9NWmhCblFhdkZNbUJjRHJpWXhiUWM0OGpmY0poSE5rdHljTkJHN0NGd0wvVXpIMVZhcm1yNnVhZnFEOFZ1T2UyT3pxUzYvb21YL0tocStKNWkxNXRlbHArZHdJYjV5Wit6OEloMStkTDNXUkJtWVRLUW1lM053SDBwRUxhcEhMNm5qcmc2ZzBDUk5HcWdqQWFTMlliWHk0R3Q5c3JoZTRTdXZRR2lNczhTY2FJR3ltcWdOWnM3amM4RCtXckNORkp4N3dQYnRRL0R1c3FudEFnN1JRM0FFZCtkb2JxdTM3Mkh0MUp4dmJhUzl6V0ZHUVNOcEZFRHBnYWE3bHM5Wm1GaFduelNQNE9ITU5HOURMQVVZRENUUEtXcWlFaFJBL1I5NllvSENraDVGekxtL1VlMzczOEQvMStTbTlXVXV6WGIvRk90MGtqMTBHa0FJM1Bnclo4eXFoZzRwNWpySDJJbkNYczlmYmpjNi9jWDgrek1makM2dUpLSThkQnJBSjY0MzBVdnBSbjNnN0JEK2dybzd4K3ZIbFdPampMMjJYOEl0cFJxSTlKaU5RQkQyNnRhUTBOL3Y1K3plREU3Smw3ZG5WYlYzVEM4K0RoRE42ejZISkh1NGROQXQ3SkxRdCt5dHI0cWl6KzAyQ0VGWHZra3ZqVmZUWk96dVYzVjZveFVENk1Hc0pEY3FmcmNiZnNvelZpYzlhRzMxU3VHNzdITWZyNnFOSkV1YXFDOEJwcVZRNDcwMzM2clJrWDRqNHgzcHRta2N2aStIY09ZaGtaamNuRWF3QWFwOXdYWkVqWFc3YTNWZ1ZxU0RpdjNKVkJXRElDV2tEZWlSQTBvRGVDakZWVVBCamdmaE5WbmN0QURLbHB2Zi9idm1xZ25pNG1vZ2JBR2NKU21hZ1NsYWIxYmdpV3BmSGUvcWRmS2plOTU0bzIzOXNMVjJ5VjBQTlNHeEZ6VXdHSTAwQ2s3eE5ZbmpnQTk2d05QWTczamhPU2V3RzNEa2xYR29jOW1zWnN3d3k1YWxsK0VSQTJFTkhCVTlwWEFMZWRBZy9QMTBKRisxYVNuUiswWDR4L3R5Zy9oK052SnFvdU4wT05GZU5TQVZ3UDRrcVVWaGZjaUFYamU5WWZzRDhMaSszNHFaby8vUU5aY21sTzh5ZGlzK2pWWlhWMU1SUTJVMGdEOGNtY2c5NUxoTDNYWnBsVmlmeEFXM1VkRjNxM3dmZFBaMUxWNE9KbWg5cFdja3BpTkdwaXZCdkJ0MkRLdmxtL0JYOW0xYWg1YWZqdks3NGxpN0Z0OVdtT09wM0JkMExkV05XVk1SUTBzVUFOZDdaaUhhem5IWUpPMjd6MHluQm42QjJ5MTc0dDNCV1VYQU1PZW1RbFhRQ1hZK1lyTDJud1Z4ZEs1YVFBTDIvMGlabzNrdHdhR0EwL28xOHhCblV4V2NjRlcyRTNOc0svNmc0WUZVbkM1N0s0VndJdmdxSUhaTlFEUGZMZUl5L2paVlZpejVkallINFExUDF1L1lubnBWaWEvSGhBV1NwTFBJWlpHRFpUVkFFeTJjSlJOOW12MGhZOE5nK2VXZFZBZXZVSnRmNDNWZ1FXZ3c5ay9OS2h5azF2dTBqa1hPeFpHRGN5aUFXeVNXcDY2ajlmN0FVenNiNzBtMW1xNGFiam1QVE5pRDJkLzFjZlJCK3ZydnVNcmpyQ29nWGxxQUhhNlY0SWZSbVBqSk0reVBVbU1qV2hvM3d3UVhTai9QUnhFbGlvZVh5NGhmVVNKR25BMGdMRjZ3d0g1c2xnSEdFTzM4MEZZZEFvWnU4VDhZWHpsZDhYc0xENjJHb2EvK0RuUXVaaUtHbGlzQmhCR0tiTmpDNDlGaFd4cXRTTTJNYVVhNnRnbFBIcGp2VERRMjFrbXZpL2RubUlKN0tPUHNLaUJhVFNBQWRwd1lJS1VkRmp5UUpVbTl1ZjhXcUh3L2JCVW4rSnNPK1o4b2lxS2lhaUJCV2tBUmx0bTdRazBkYUpoeVJuR1liTnJRanFFZG5hUS9HaktzcHVHSnBlKzl2NjJLQS9kNE40Yi9sRUlLOEtqQnVhbGdhYnB3SVNad2c5UmcveGxKOUtPUHJFdktNR05UTHkveC9OcGY3amFQLzRtSy80amNNMWJTWGZMSklucHFJRVpOSUFJL2tFSmN2cHIyVU9CTjNZT3FmVjA2UDJJWTlYVDA4Zll4NTJBWlBqYnRZYnFHSUdxMEY5azF3bGdSSERVd0Z3MU1DcmxZZEJaaEp1aVh2Zi9Ib2E2UzJEb0I5Snl1aWVBTHJXSzd3aytzNHB6T2p2NU1yZjBiSktQR0V1akJ1YWpnYTF5RG41ZkJTdXZhazgvbFdDZzl3QkdQSHgvUGczRjgxUDc5VDdmN3QzTkZSYkxaaU1NbElzYUM2TUc1cUtCa24vRGRxUTJaUys0anRGSzZzOUFHcmpwRkIyNm52NlA1M1U2WWZrWURCcE9rcHdyL0NLRExoL0JUeGFoVVFPVk5RQVBSdTQ2NWZGQTl4Q0JuNEhyaXNPc04xUFNyWFRYZFh6QXMyMU1ERmRIaDd3NzdLVUlnZDkybWVQUUFkb0lqaHFvcElHV2ViUWd5QUhmSEJFZlFPNm9RMmdDR1Qxbmd5ZnArQnBGT3p2YlBMdUYvMjhlL3hhUzllNzdPQ0Q0MHkyMWlSQWtqd1ZSQTlOcjRCSGxwdVRTanNTdWJDTjdrS1l2WGk4WmY3SkZvZjI2K05aQ2h4MWNQRjdQWlpvV29yL3Nsa0NMS0ZFRGM5UkFTYXNiaXBOanpnZGhTWkIydXBGMWtlMFBhTHkvSkk1NGp0aFhkMTVmUmxEMFBIaEQ4WW9hT0ZVTmRMTWp1S2YrcGpobDMzYis3d0dveSt4a0ZiZk9KL0VuS0ZqS0R0SmxMZlpnazNLYnNLM281bmdVSGtFTDFnQ0cyeExlQ0dJdWZCdksvaUJzS3RvUmUxK3Q4UVBIaDdWNndnNlhSL3NjU2l1Q24vcnVFckpqZmJCYkFpMmlSQTNNVlFOd2RIYUtHV0w0SnZOMFBnaWIwalg2N0RqZGNYMHhPeG1sMFhzS2F1TDYxYjFDMWdnVkhSWWlSWVNvZ1hscm9GWEswZW53emFWejNqT1dWNzl3OU9HM2NMRSswbjk2TDVYdkNudTI4Y2Rsam5zT1MrMFl6L3VoSTcrSFhnTVljTmVMbFREZzd5UTIxZG5MSW9vbTlhWVhGZTlJd2MzWktlSVZ5Nk1HNXErQmNnNDJmVlJoSFVkdFNuUVJMdUlSM3cvamtjMWNrYStrcStKY25GZ1lOYkFBRFd5VjhUVG9MM3cybkEvQzVzblM0bEg5bGNMUFFYWGkyWnc4TmNheXhXa0FTOUFTSzhzRTd5UmV3aDVzeVN2aFoyNHU4OTNnbnd1elI5aG52eVRIaUJZMU1GOE45TXVZTTA3ZmZHcEZIRWtvcmg1bkxNbWVML01QbFhUQ2RqOG8vcEpKY1dVUkkycWdpZ1llS1hQK25UNnFVTjY5UjNSMEQ2SmM1M3RTbzdCUVNWelZocFVUU3hhckFYVzBMSzhhK2g1ZytjRVpuMkFnWmlzVTFWa0tmL0lWMzloWnphczBsa1VOTEZBRFl6TFBnb3MrcWxEcXpETG5rem80c0h1Y1ZMc1FQdW5jWXI5V1VHMHNqaHBZbUFiZ2xVd0ttZmRnOXpjTHNRUUNIK2p4QitiVVV3YTdJU3JNSVh1aHNnaVBHbGk0QnJaS1JCT2JzUHU5c3BLTVU0YVhhTHhQZ3N2YW94TFZscTB4NGtVTlRLMkJNZ012WHF3cStpQ0lybGY4NTBOOWRMOTJJWGdzRTNzQ0UwMFNVMUVEcDY2QnJXSkhHNnRmdkMxYjhtcUo4OHFQc2FkSGF5R2F3UlFNUXp3aVBHcGdCZzFjWkNmclJlVGRLV0tPTDVFeG5HKy8rODBodnVoSVFROG9SQlBoVVFOejFjQlI4WUEvS08vZWx4THRBM0c0TDZXbmlMUkFEU3dWNzExZCsvdnpyWDkwc2pkZmhwRmIxTURVR3ZqWng2Y21tWkhnMFZmUHlBRGsveCtpY3ZZNGE5MmFJd0FBQUFCSlJVNUVya0pnZ2c9PSIKfQo="/>
    </extobj>
    <extobj name="334E55B0-647D-440b-865C-3EC943EB4CBC-5">
      <extobjdata type="334E55B0-647D-440b-865C-3EC943EB4CBC" data="ewoJIkltZ1NldHRpbmdKc29uIiA6ICJ7XCJkcGlcIjpcIjYwMFwiLFwiZm9ybWF0XCI6XCJQTkdcIixcInRyYW5zcGFyZW50XCI6dHJ1ZSxcImF1dG9cIjpmYWxzZX0iLAoJIkxhdGV4IiA6ICJYRnNLWEc5d1pYSmhkRzl5Ym1GdFpYdE5kV3gwYVVobFlXUjlLRkVzSUVzc0lGWXBDajBLWEc5d1pYSmhkRzl5Ym1GdFpYdERiMjVqWVhSOUtGeHRZWFJvY20xN2FHVmhaSDFmTVN3Z1hHeGtiM1J6TENCY2JXRjBhSEp0ZTJobFlXUjlYMmdwVjE1N1QzMEtYRjA9IiwKCSJMYXRleEltZ0Jhc2U2NCIgOiAiaVZCT1J3MEtHZ29BQUFBTlNVaEVVZ0FBQjNJQUFBQmdCQU1BQUFBYTFpNWRBQUFBTUZCTVZFWC8vLzhBQUFBQUFBQUFBQUFBQUFBQUFBQUFBQUFBQUFBQUFBQUFBQUFBQUFBQUFBQUFBQUFBQUFBQUFBQUFBQUF2M2FCN0FBQUFEM1JTVGxNQTd6SkUzWW1acTd2TlZIWWlaaEI4RFlVYUFBQUFDWEJJV1hNQUFBN0VBQUFPeEFHVkt3NGJBQUFnQUVsRVFWUjRBZTE5YTVCa1NYWGVuZTU1OXRSVXo2QlpZT1dGV3dvZURvdHdkR05rcENEV1VUM3lXT3dLcEJvaGFTQnNUTFdNZG5ZSmtLdVJReXZXWUtwbDRWM1dENnJYM29CZEkxd2xDU2treTdnYUxHempBS29XSVVJTGhoNStDSXlsVU5XRTE1akhRazlCc3p2RFk5UGZ5ZWZKdkZuZDllcWVudG02UCtwbW5qeDVNdlBrK1U2ZXpIdXJLa21tMTFRRFV3MWNIeHA0MFQxcDc2RlhYUjk5bmZaeXFvR3BCcFFHWm41QmlGNHF4SlB0cVVhbUdwaHE0THJSd0ltU3VPbldKUGxzVFR6UnZXNDZQZTNvVkFOUGR3M01sc1J2U2gzTTFNVXpudTdLbUk1L3FvSHJSUU81bXZoSjNkZERRbHk4WHJvOTdlZFVBMDl6RFRURmQ2d0d5dUxiTmoxTlREVXcxY0ErMXNBaDBTdlk3aDBWdmJiTlRCTlREVXcxc0g4MVVPTjcyNXdRYS91M3E5T2VUVFV3MVlEUndERys1Q1pKZFJvdUc4MU03MU1ON0djTjFNUzNlUGVLNGlyUFR0TlREVXcxc0M4MWNEZzRUWjRYb3Iwdk96cnQxRlFEVXcwd0RaVEZGWlpMa21OQ3JIdUVhV2FxZ2FrRzlwOEdab1Y0eXV2VlVTRldQY0oxbjNuLzR2NGFRdTQ1KzZzL0Urak4zTitkZ0pDbm00Z3g3ZUNnRU9jOGxTRjZQdWtScnZmTTRYMzNtS3UwZXIzck5PeC81WmFRTXMzdnJJSHg3S0FsUk5kckE4aTk3Qkd1OTB6Vk80RGJENk41N0dwM1AzUmpjbjA0SWdxVEUvYjBrVFNXSGVEeDdSTytxaEF0KytHelgzemQ1WTZLZlJZc0owa3UvZG5yVG8zYmRyZzJmZTl1Vy8zMEtSekxEbzRJOFgxZkxrNm94a1R1SjE3MjRUc2ZmSll2ZFM5eStVOTg0TU52ZVRCY1llcy9pTFg5NmRlY0VUZmYrNTlqUlh0QVc5anFUcmFWcjczNmpEajliajJjdzN1OTJ6bW0zblhQUGUrUHp0OXpabmtDSTN2OFIvL2kxZmVYQ2hPUU5MUUlhYnpQSExwYXRrTGNHbjIrY2V4Z0kvUEsxQUdLbHZGTlhicDZCYjhsNVBDMUlsV1VLVEVFbkhuaGV0SmsrOTFuZTZkdmYvamhoeDUrK09FSHo2VHRKTWtMeXRPRmZLTmZyZTNvaUJad0JjZzlFbXpqcFFENk5ySzgzcnVkUEZXV0w0bFRaOUd6QjgrY3N1SEpjZEU3ZlJhVTZDbjhZMm9nWjgra3JMZ0ZJUTgvZkNiOW5oUTZOOW4zMVBJZjBjTlJYL2pxak9sNWQ5Wkp3RkZWcjcwM1pTK1dnOEpSc2pVcHFUQksxVEhyek1tV2d6QjBKSmxSYXd3aytYYVFLMGxJbklXaExSSGppNlhOUEhqMmxIbjZvd2huVTltOWN1WVowQ1pEcnBMZ05ZY1RMWG4xUENyUERJcGNMVWplMm9SY2RqVzR3RUhUVVYyVi9XZGVVaGEramR4NzY2MlB2K3pOUXZ5MUhZV3I0YWkrR1ZtSVM5UzFIS2xlTklWQ3VHTHQ3NHhESysvbzJDS0MrNUZteU5DMzdydnJBU0grTFhoeVlSVFZyOTZrNklmMHc0aW1IUGp5Qk1UU2dNUTEyVHZ2TFhJVHp3NU95RkhMRDNuU1ZMSDVMYVZUUTVDdlNxV1o5eTZLQW5nOWYrZjlzbHF3Z0VIQUFtb0k4ZERkZC9TZG9OejVONENqcjJuKzRkWTVXVFYzNGM1M2tDZ1NkcUVMMGdYZHByanQxeThVSk11UUgzUG5BY1ZneloyTmhQN0hVL0ZrUThwK3Z4QS92R01qSDliOXVucmZIWCtwbVdlcElhRGxyZDFJN2VQbjc1R2w0cjQzdXVLWDFpWHRvVGVwQ2dmWmNod1JNUlFKMzlFVTR2WFUxQXRLSlBiWVhpTzNxTTg0Ly9RQ0RYSjVxTTdIbVgvdnpoU1NDdkhDWGFVcTQ1M0VtaHV6eGt6WFBUdkkvOWUzMExDRnVQM1hGb256QlhmK2hzeHUzZnNoVmZFRkt2L3MxeUtMQTZwdzhTd0xzVUtNYzZLWE9iMEN1VUxBYnhERE50Zi82NDljSEYxckQ0TDZuNktldmM0SitqcmwzK2J5UTZlS0lYSXZaYjl1ZkFMQWJXdkpyVXpJRVcyU1Z2UHZkWGtSYWVGZmVoUmVlZ21sVzFMN2xwcXZndlJYSnBzTEhJeWhqM0l2QzNHMW9Tck9wVmU2U1d1UGtadFA3VWxDSGs1a2VaUXhaT3BRcEZQSVVQZUU4SldZMlkvVWNqRzB4b3lVMEE2QUR0SDd1R01qcC94RExwczhIM25sL0k4TEUwUGI0cnA1RzdKeUU5Z3MyU1N1TmdYN05xK2hCbmRFdnYzVzNDS0VuclBzS2NjeHFOUlRXemhDQWo4TTRJY0o5Y3hMMkxtNjJDb1kwVENRZmgwMUxIVEhPWjV5WjViWTJkYkRRSzBaK014N1RxTGwzSmVWT1ZyaWs1anJpNmJxSWZGS09PUHZtK3llM0kreFRmdkdwSkNibEs4WmNyT1BXMFpWWThZYXM0SUNPMERiNHJ1TXE0bTh0d0trNHBXcUdDYnB2bFF2U2JUZDdNcFU2eFlrclUwby91VEVEeURNK2xoTnpONndyR1dKa2xLQjBDVmJWZzg4QjByREdNRHlEcExBVnNGRDdvbXNGYmU0NTBpS0E3MHhkaENkOWhRSUYvT3Z0K2tQclJpWGcvSmozbmV3RGpEM0ZUQU9sNlhOMGR0ZGxXYnZiK3cxY2p2c1BmZjVpU0czYzgyUW0weHN6UTJ0MFUyVFRZVjJnTmw4eWhaaWI0bzh5eUxrN1hWVkhpYkpJUTRpV3RQTFZPZGtMWFB3bkJ4N3FwbXA0b2xXbVJKSGJyM0JPQ0NUR1RWeUhzVEx3UnJNS2c2VUJHUTg1RzVtZ2pjRXZ2emhJMVpIZGR5N3Jmak5VSUhIdC9kZTVEcjVCSkR3ZVcrUGNjTHY1N2F0YjF2WThoM3BUSXFtZDNQTlBSYllDMDRXMmE1d2ZtTElMZDRBeUEydE1US1JvUjFnK3Zqc2JZUXJXYzJZTng0QmNVYUlkbGp1bkd4bVNwT05GUkREeWN2MnFNNEJXV293aGdvc2E4M21hN3VNM0txT0gyeUR1WkxZYXRzY0V2VndOZVdGSm8weG0yTmxSU3BqUDduZGhVRWFGUnUybHU4aFNwa3czakFPZFVkQTVua0VDaUxDS1IxSzRFN01COFBKUDhKOUZPeHBlU2NKZzVWakhJWEJPQ2ZPbFhKZk5JNzBBWkNiQkhaUThnMW5FN1BKZTVDM1FmQjhabTJBeGs0cTNzNUpsQWF4ZEZKZWJBNk4zTFRCR3Q5QVh5N2FmRzNDeUozeEJ6NlRtWU1GSWZ6M2w5QWZQVjdicVd5aUVxek1SOWdRc3R5Z3BCa2w1VlBucjZoSzB3ZGNWTW9BeEphLzVDWkpiSXM5Z0p5QldRNkV5RjNnV0owY2NqRlJoWUU3TlZuR2lTRTNzTVpvTHdNN3FQc2g0VHpRMG1YMURsdC9qNUxMckFESnF2WGhuWk00NlFwM25hZGhjc091dVo2TklocG44WEhOeXlWMExqSFcwVTJncTZOOFBhQnh3Z3NHcnk4aGV2WVhRMThkS2xmeTlaa3I2V09DR0sra1lRSUNxWWZaYnBCWURnN2dNUHFLdHdYMCtISFo1bVFDS2czQ0tMOTh6Tng4aU53YU42MHBjcmw2QTJ2a1JUWWQyQUZtanlzWSt2VHNac05PTFdKakg3azRvREt3N3B4RXl4N3FZUG5mR3g2NU9WL0dDKzlyMkc3VFdUTEQ4Y1NSNjYwSDFHcFJpRnRjNjVRQ2xrUHY1RE1nUjZkMlhFMU5yODhaZGhDcW1WT09oUURKeDBOb3g4VHNTTnZJZWpxUTdQVHVXSDk0aGcxdVdLanVoelZUNUhLTkRvTGN3QTVnT054UWdFOHY5S2d0Ry9sNEdjZy9TY0V5YSthOWN6SXBDYkZxV09YOTZGUERJL2VFajF4UDNpNGp0K1lObTh3c3U2c0ZhZDNyVXpaREs5dWFJeC9hS1ZhV0hzamZHQ2VsSlNlQVV2bWRIWVpmSVpyREJJWDdhVGFEMFNwakVqc0Jjbzk2SFpnaWw2dDNFT1FHZGxEMk42aWJ2c0hPbXBObCthRFNBRlUxdWVDZW1RQzVyUkRZbTZ2REkvZklOVU51UGd5OUgvRTltaHd5bk1kSnJ1NUlHbUJnRDNIeTlXZEVlSHhTSjF3TGp3YytoSmJsaGw5bmhCeDFiRFdvaHdEQm45S2dmTXhzTlVEdUpudkdseVJUNUhMMURvTGN3QTZBT0haVW4xUXd3UTBuOHFCYmo3SHI1TTlJNktqVkJNc0prQXZJTzE0UzBHb01qOXdEdkczWEM1a0NiTHpJc3h4YWZNQy9VOWJYMWZIZ2dDMmZaZzJkdk5OT2xrNHh5Nkp0K3NVN25Dc1RZeEUxYkFWS2JQRDVrQ1ZGdm94N3ZJTm5OdEJNSVdTdjdEaWVzTVl3K1RSQWJvdjV0Q2x5ZlUzNjF1aVgyWnh2QngwUEVQUjBrUWQ0blNWYkRRN2FPejNHUXdaNzlBcms0a1VOLzhEb0RCMktpbUR5ckRTWHFETkFGcThaY2c4R05rd3ZNWFpkSjFXcUdKN09oZ3dKT1RDSHcrT2VxV2FaSllVZzFlVmx0ZWZ5SEtYbmc4NkY1WVBrYStIVEtxcTBNQUhCZlJ1ZkRTZS81SjJnVE5kY3JybUJrT3ZiQWRERnRsbEg4UUl5TjdmVXJSODRJckpyTExYWkZMMjJhUnZJeGZHTjU5Tm5BSFBJSGc2NXRXdUczSVZnV1d2RlFBcVFNVjJad1h2M29qdTJRNVRMM3lQMTJGaG1QbERjWEZZSFIzMmZ5U29QbklSbFJPWWk5RmNEaXh1RThXalE0SXh2UDFQa2NpVU9oRnpmRGp4VFM0cjBBdkt5RlhtSUcrcUM0RDRUU0hVSEhrQXVQWmQwRmJFdFJsdzVMSExSL1ladE8welV2T0JnMG1mTEZlNnYxUG5VV3RnRFdsQjNPbHd1czhqa2sxdnRqSWdzQVJic2pmb1MxN2xpUHhHRU0xa2hPMUlvaHJpYzRUcTBtMnZ1UW9EY3c3Ny9tU0tYVDhkQXlQWHRBSGhrMWxqNkFHWjR4WXAwejRSQXd1UzdFbXpQZWdYTFI4aUZ6VjYyQkVSNGE4TWpGNXZFQmhQaEozY1h1WHgzaW5aeGtNNjJxNllqODZDYWRKOTczWjBHekhGMTlXRUhtWnBhWjhXVjdGWWFlNWdDNHhnbHVZRldWaklWWjNjVHVhVUF1ZlArT2NrVXVYdzZCa0t1YndlYjNCcFBYS1duR3F0V1pIWFpKdWtua1pqcXdmY2ZYQmtoRjdiQnYxN1F1VGc4Y3F2WERMbUlJTnhva0dyeG9OZVdFSEs3TmhkTDhNZTVGYTZPR0xPaTRZQ0FCeXN6SG94MU5mbGwydjRpQmlncG94WE1TSGp0SW5JeHJ1OTZ6UlU5eno0OVcvYVVNeEJ5OGVoMTNkVWlhN1M1UzkraTdlcWF5Yy80ZHJvZzNET2lpbmNpVGNqRmtzejN3WFVJYVlhVFp3VHp1enVoSWh0dThDSXZYZHZOYVBtUTEzZjVQb1Yva0M2N1Fyb3FlSjBLTTB4OVgrMXR6MnFxMHV2RXF5YURGNmI4Y3o1VlVPVWNqbmVJVkFtdHRMUDhwZXdDbjJVYWpWSU5KNy9zRElza1R0ZGNydGZCa092WkFWbGoxOGlvTEVPQ0FBelZkY3gvem9OMTloWmQ4dHRpcTZHVGRDUGswbXJkdHJRY1BjRnB1c21qWDl0NngybFpUTDhlOXBZelM0YlZJbmVPckt0aHlFbitlUjhBMjRyTjEzWkFidjZMRC9RZWVwVmxSMkwyTldkNnQzMlVVMlQ2QmZlbnQvMGp1WlYxRy9Wai9oNk1IbjZ1WlNyaWpEY1dRM00rZ3VFNVNaaE4zOFVMK3FmeHRJMC81MnhGUEViUzhaZXIvc0w2bGRBekE3WXBzbXhWaDl6OEZ4L2src3M5N3kvTzMzK21BYzdmaHhZOXZlTGRrQysrUTl6OEsxMHJKa24rOWp2UzAvK3F6UWp2UjR2K21sdjNqeEkwY2wvNlFFYjZOKzVKYi80WEJTWXJLMTBXenJ6bWdhMTd3YmV3a3ovbG9pYWJWdTh0ejc0aFBlMTNHQm9hd3hyNzl0R3pBeWpRQWk0bnVqemNTOWd6SVNucytXWkg5Z2VpdDg3RkUzTHhYVVUyTlljSUZVMDdlUVJyODlpb0tOTlVRMTRhdWJrdmxDUmRmaFJRUWgzamU3UGE5c2lkclluZUdTRmVvWVRTNTZGVTlDRHpaeHlGVXJsZlFqOVNVRDB2Tis5YjJTWmF2dWpYb3h5Ukcxa3lvN2o5Y2N0N2hNWll3aVF0MDVjdE1SZlpqWkp0T2lkaldZZEprSHZnRVpHcDI3RXRuNmdMQVczZDFOVkZUZFNRby8yZzZLVkMvTFNwUWZlNW1peThVckRFbnhQaU5QUnFkZmJaWDVZYzhzTjBQZEFkNW5jNVNUNmZsZjRUa0pXS3JYVXJQQW1scTVKUG9WdG5xTTJGYTR6Y0U2azRoY0UzWEllVDhheVJDZktUbmgzZ1ZNaWV4UnpGR291c25jMlVkd1l5OGhYUisvbHU4aWN3L3RkNUlpVnlLMnkxVGc0c2dRR3pyOTN1enNnbDI3SlhBWlV4czdoV2tGSVhyR1diTnpId0MwdmZhU2ZmU01WUEd2NjU5TW0vVEpJL0RYNCtLbDhXVi85VGt2eTRlSmVIM0tJUERRekZiU0dNUVBYbDVVV1hqYVRtVGNXdnVNZ2x3c1pKdEJ3K1pRbEgzWWJFMHVpQjdtQjdabGJGVDlKR3hOT2VMdjc2UloyWUxZbjNkWlAvVXhVbXpNTGM0V29rai9aZWxTUllRTjFFSkROMWNmVkQzL3owUjhTVnJxNzkyK0tmdFpOY1dmUWFtdENSdGRXSFJpNDhWRUdYeWh2bWR6a20vYytFZUcyUy83ellzdHdaNmJMKy94WGkzN2VUMmVxVjdrSWdtYmV5eTJsYWMzUDFtd29KQWthbTN6R3RzVytuUFR1Z1ZhS2hXWXNuSlhLTkhYblBoQ1FMb0N0RUtzU3pBdnVWeUlVQ05VN0IyMXluRDB2Sm5iOExOYmVrRVBYcllXaEtYWHJObmIxdzRVSk5pSHR4dXlCL0plNzRlV1Nad1NESGRCTStGZXFJSjd1UWh6QzNvY1FtNVNlSWtIeEZ1blpObzUrM1ZELzY5R2p2RS95eFZ0bTVLN0JTNEpGNWtRbDBqTWUzUGl2V0pJcDZhWnNwc2RNOFU5am5EcUZtV1VJVFVZZ2U5SWZlUjlBMlpQTFAyd1lCVmVYeTh2b09sM2RuSFhVYXVmUWZrOWc2MTBkRlhKWHovM1d6ZVRva0pCTitXc3BvN2FVWExtRENyOGpKbEdVSWdRSm5TTWlOU0ljSGZ6dTFXTEhHbEpWTzViT3BrSDlRbEt2ZnNyRFRyQkQvN2x5RTNFZWtvUUZIeTdhTk1hM1J5Z2tUbmgyUU43Nm9PZWg3N2FsN3cyL3orMkhOSkhuUi9XbnZ0cDhQNlJLNXNBNzNLTExXQlE4czNXSDVxd2E1UUFaUUdDS1hSSFljN2lnTE14b1V1ZmlxNlRtcTRpYmNmbm1oeXNORThLMUt2cVQ4SEE2WUd0OXEwbzk5TURBcGZ2b3NnOTUyMlVnS0hCSWdIYTZMQ0I4bnBWeEw2Um92TXVrajBVMnFLUjNnUG8rZVIzMkNydnRWNHhvdzlFVk55OVV4SFpmVUJHNHljQnkxcy9KVkhTQjA5Q3pEbGx6M0ljbE5Qa1FlRFI1S0UzSWZ5VXB2YVEvamZIQlVldEl5eG5hb0IyVVhkSi8zK2diazV0SUd0UXB2Yi8zdnVOYllkeFNlSGRCaHpMcGlQVUU3b1pMclFYVzVyNGlnUUNLWDdMMnJDL0lTdzAwK2VZaVcxSm9MbG8yQmtFdjd5aFhiVW0yN05iZGlMQSt1cnkycmJGejlxS29LaDdLc1V2aTBmTFE2TzFYRFg2MWFIdldJOVNUTG0yUVZkVXc2ZnErcng3a2tmQWVNdS9xb1k1ZkQ4S3U1bWd2eUhQOG9LU2pjeDVFdkJELy9ZUlRkZEFoZkVLSlJYNVNjd09TU3FWSTN1cDU1czZxVkUrOXRxOEtTWFhUbGJ4MTV5RDFnb0tibEVISkxHZWtZcWU1SlhhaUZJeTdkOGNsWDdRdGE2RjdmZ055RCtraXg2c3piV3RtSTF0aDNGSjRkSUlneEIwc0h5R25BanJUQ2cyZENmY1doUUNLWFlzeDF6WFZjRHFkcFpSR1pJWGQrTU9SaWN2VTBvbm9ONG9QTGVnSnNvNWVvQ1hsaXZDWVRGWmlkVE1CaldBdUNNMVNsS0lFODZ5VFJ0MlhKckQ0MjBBN1BtNkpTL0lEV0ZPT09pcGR4Q2xhdjk1SEFXRzJ5eWx6U2dzV3dMYVlFK3QzMkNKVEpQKzhsL2E0TTh3TDZveTBzSXdlRWc4N3FZQStMbW1WZWlQK290NzFRb3NLUi9NN1lrbUpvNmcwNjdFbHJ1R2lVRG9ad3paMW5xS2I2bU53M1pxVTNiVThXQkMwa2NnTVVrZDdTcFdCQURIQXQxOXpXdXV4bWdyRzNWV3BzYTFSaUlwK2VIU0JqckxTOEF1YXFEYXVDWjBJUlFaWWtrVXRWbHpUcDRFbEtZR290YUR6a1l0WWtBekZaRjU2SmxtRlFBeUozdzFsTVRhOFpxVDMzd1hrS3RVTlgwV3BYSGhSYjVPS1VTT3Rmc3JXRU0xOUpVQi9rbXR4K2dCWFlKQXljWE1PTG40QXhlenRueXhGSmxQWGVtSXJxU3hFRytjUnRNVk53Q1czMHVUUWlYSlVpR08xb0hkbWtxaGFYRkhROVY1T0IzTTh2cVRTR2JtUjJMRTVLZW5veG16cll3aHFENGFzclJPNkdsYURLVWV2TlN5cnBwR01pak1VQWtCZXBPQ3FkZVJKNUtsRlFndmI4TXhWUG50YU5ibG9iR3RjYSs0OENQc0haQWNXNHE1SVh6NFJ3cjlnNWFpNUo4aUFmQ3JsRlp4M0ZjMVN0NmVZQk9iYm1BcEluamR4dGtBdERXREZzdEVadXlSTVAvVkZuOHVyV1U2Tk50UkpqV0Q5UWRWc1dyckFRZDhpRkFORGFNZ3pob20ybzcwODVRMjlHSm1QbVNSWEE0T3YwZEdCc1RKMHp4TklkdDVJZlp4UERXWEVPenZ1bmlvcG9vOCtWOFMrWUNUZGFMbG1tWVFPcmx0aXhqZzZZc2Ivb0o4eUtpWkZwNmVUSTVCam5rVkRkd3pKZ2x1Yk1tbHNNZEVlSWJPaFdyWFRNK0pLbW1aVXJLbjJUVzBiVitoSmRkZTl1cWJOdzlITlpOVHl1TmZidnZtY0haSTVya3ZlSW5JYXkzWFdsamY0aWdoS0ZYTXlGT1Z1c3RvbWo2Y2FGWE9yZ05TSnlIZXdnRGgwMTBUTEdZR0VDQlJaUVNuR3JwaTBZdTZLOXJRVXJuWFhhREV4M2tTcnBDM1dOYUVPaU8rSFNHaVl2c0drWW5sak0xNTRod1I4VFlUbFpvb2hLT3J2cGpkRHhBQzduWEU2bmpxU29HTC9rcVN1dmdKbHdvK1VGTXIzcE1FUlBvQXlnTUo5MkRLbkJLNVpDRTNaRHBsd2dVVU9ITExBczdTNnowWExIMWxQdFI2V2puK3VtZTdySFVla1ZEdFl5ejVqYWUzTlBuYWZCZUZabG8yTmJZdzd2d0p3dHhBYmcyUUdVcmQzY3drbGliaG40SGJjeFpreUdUMVBJSmN0VzlMeXFpM21RVTZ1SXU0ZGNBTWFDRUphMVRPMlZySVZ0V21lNFlad1VNV0I5c0pYUTh3TFIxRVVxTVM3STBPaE91SlE2NGtRdlBVOGErSkVyWFJtWGU4N0FZL016NkpWb0sxTDJxN21hbFM4eGZ1M0Jja1cwWVVlYnFWSTI4MFlsN2pBS3RtaTMzU1d6RWk4WWM1SGVTVG95K0dFOVZpekRWbkZodEZ3T09oQ1ZYbWNUb1o4eHhhVERncGwxdGxpbHpOaDJsNUE2bDRwK3Jzbkd4clpHTWdodWoyd0kzQTZnQkcyTzlRYXhkRXcwdE5sL3Bwa29sVlRJSlZFWEplR0U4cnpOUFVKdTBRd0JqUU9FVW9Gb2UxVjFidDRPdCtyMDdDTVhpM0ZiTWRNbmJTRHMwdUhJOGhXcVpaYlBKdEdScXlmazhrajJ0cHBsaUZIUVAyMzRjNUdZV05Vd1ZoR3JQd2h0QVcyWXBUTEREN3d4SE1DajZjRURXN1lPZm50YTFhdGFQNWc4b3FjYmk0d0p6OWwySkVSdStQc2JNZW5ZdGJoM05NdXFWekhwOEM3V3A4akZwc0FHbGE4dnN0enVKbE16ZGZMWHg1ZGtZOFZ4cmZFclp6QmI4WDV6TzZEZHltVmlrOCtFWklTcnByR3lISzhjb3lyazBsWlVvaVk1SmlYdVdiUmNZU2pCUk12RzUrcC9UL2NVeUZoVlNReDEwWGFmcjdtd2hLNHRDQjRZT1hvSDlSc3VHMG1Wc2VaVVpaaEI2Tjgrc3JiVlljSWFzUWNZZ0d5eFRCakYrdFRCY3h0b3c2SXdySWErMnBWU25zN3JicUJqVHhsZWkxemJXWlI4NFZXcTJQem5JdTFSRElZeis5eXFFeVpyeGFURGc5cjZaRDJTTVNJZFU4cEcwL0pYcUI5ekFiZnEzaTUrcHM1dzRLdVhaRXNWYTIveWFIRjRhNlRUMHo2VzROa0Jwa0xPajN3bUpOL3drOTUxaUdkQ1dLaFB5ajVEMThwYUY1Wk5maytpWmVoUE5ZaFc0YmFEWUFIVHZDcTdneUlHMFA3SXBjY01VdCt5bHZ1bzh4WEJrVmtLSEdLckxRbElNVGd3bmt5U2d2QnprbHJ1aTNWakZabktBeEtnQTc1eDhXdGh2Q3pFSUZmZWxRekFsbFdEUVM0Y28yajcxWG1PSVM5Y2N5UEl6VWhIaTA1cFJSK1FhTVpLUjVIMUtlR2Erd2RzcTh5N3RpdnAxQzJPRnJtZ0xadkdSckpHUWk0TEtZd3N1bnQySURUYzVETWgrWktFREZpR2VDWmtrUXZGcXhZckJka2NrTHdYeUtVb2ZWMDJpQTlzVXBrN0pxcEZMajJxTVd4K3RBemI3Ym9TZ3RLYXk1b1VtZlQzVENaK0I0YzVEYThnMlkxekJWUXMrS3JTVE9RWVN2T21la2NUVkIwNFM4RjczNzVEUVF5NXNBNGRXV0E2VDVvV0RISjlIWnBTZTdmWXlwNVExVGpZVUNFbWZZUDNjb0ZIU0xJRkt4M0t0YWoza1B2NDMva2xkTjhhZyszWGJpVlNGOTBiNUk1dmpYUktFdGl3NmI5bkI2bGFwUExhempZeGN1SnIya2t6dGJhNTZ6VVgwNnEyS2FjVmIzTnZrRXVSYWNQMER2aGkzaUw1eEFmT1Y4MmFDOTNhczFJZnVjQ3FxWTg3bWZrcXkrc2tGdW5BK0VJZVd0UU5QamFRSHN5QzZHQnZqVVFkYzN1OFVMSTNZMkhoQUhueURuM09yZVZwR2xkWmFyd1BzTFZrWkpmMHpFSTMvWHFaKzlFL3Y5TmlLNHZjT2djYnhNYWtkL2prd1JJYnBubTgzY0tsbDFqUE9ISnBtQzhmVk85Tzl1aXB5S25yK05aSXowMHV4L3ZrMlVGZExWTHFtWkJjb2FRVjJ5ZDVjUkUrVlNPWERtVWJLSm5UNXJ0SHlDVkkzZlpPZmQzUEZwRGNGekE0dWxabGQyRXJiUHZBbzJVZnVlQno4WTZzS1Q4STBNc3VHMGtSQnM5cE9vWGNKeU04V1JKTnRlVHM5SEcwcUZMcU41VlpjVkVLdGNIR2JubG1Ha2gyL0RBRnNGaVREREZzelh2ZXo4cEprcysrQVUzZ3VtSm9hSkw3ZzJRUTVMWWczVXprTyt0bSt3K0pnZlRVZEZFMmhsb0YxZXFSVXkvL0VJeHdYZVgyNERPQzNQR3RrZDVPVWpPUUdZRm5CeldsWWZWTVNDRzNqUlVwTnM4WlFZYWdrVXVQWWxaQnc5OGJ5S3ZwVFY1a2xNUTF4SnNZM3FwUnRqWkVnT0hYTTFUcnlZazZ2dFgwUDI2RnNhMUtDaExXcnJaYmN3bTU1N1FNZGl1QzNHYjViQklPd0I2QjBmcnJXVzZXWFZQSTMxMUdPbThDN1FpbjUyc2o1VHVSS0lTTHJaVUhhYWJLR2VRdVNYbDlrQnUxakM5Qi9sdC90ODAwUEFweTBSTis5UXF5SDBrU1NnZlRxaTdDcldXUlM3UnJqZHp4clpHMnN4SDdvOEY1ZGxCVmkxUzlRU1hxWmJNQzlzakJNWThzNi90aGtOdFI4ZVRHaXVMY0krUlNqSVF1aDllWEFlMlBnbWlSdThIc3lrZHVkcCs3SGtvakY4T09UN0xGcWlVWGRaZTgxcUw4aWtqNzUrOGplV1NiZlhIcTR0WnRKRzFUaE43RTNNNDhJYmZpSCtxQjliS1VGRVB1Um5SVTlPM1BWN1JSaVpXR3lJM3NjNWRrTS9nd3NYalY3NGt1emtnblA3UnE2dTQzNUk1dmpYVEt1dWlHeDFPZUhVRHBPRmFhTTU2VVlrSlVxNnp3Q2p1bERYSTMxVDZ2ck50dGVzdk9ycTI1Y1YwaGFybmFvSTdQbTJuZVlIYmxJeGNTdXNTcUxncDBMNXFNdmRNaStseWJpeWFLUENUdGdMOGRaUXVKWUtRNHVjaVBpUUllYjhhQ3NvR3laVFNTSFZPeWNSbTFxejVlU3NNanQ0VnZ1Y3R1TUEySHlJMmNMUytacm0rUDNJejA2eEM1dzFnanZaTmdOQlBjUFRzb3k2VkVQeE5TMzd4b0pPb2Q1cUJhLzZ4QkxoQkFaMENuTk9jZUlaZmlrMExZdVZ6ZGhCenpCcmxJOUltV2ZlU1NKOGhhT1lYQ2piQVZQMTgyWit0RVJtczdiSXRONVpLS2V0STFROGpldlgxZHRuaG55Z1o2czVKbGsrK21WL3hvT1RVYjlOaWFpMUVaSCsra1BXckh6VFE4Q25LaHdHeXNGNUdPd2F5NjVsdmU5TytIYUxuZ09xZFN1Zm9RMW9odlAyVjFyT1I0ZG9CeFkvL1lNdE9xekpaKzEyYUl5eUNYMXFWQ01tc2VSalgzWnMybE00SEZzTGVQV0hPRXNhM0tVaVQ2SUJlSDRtMG5nRHpCdXN2cVZOR3JuU2ttUXQyMmlReGtDb3BGZDc1cTB2QVBaYjJQcTJxRzRDaERwaWlPdUp5dDAxb0RyZVZORXowVldwS2NmWkRMenVlVndGeHE5YzkwRkNJMzhnNlZhZ1pDekpxTG5tUk82V0xTMGNWVjFUWjlvbGJCNWE0MWNzZTNSamg5Z3lBM0xKWHl4ZzE0WGNIcFNGY3prY0d0SjhXVFlaMXQ4d2E1U1VyckRQMjlnYndnbWgzU0RCNHRIOUlkeHpLM1l0dUZmZmM1b2FLM0F5NWFQcFhJb3llTEtqbHZob3VOQUxNNmFOajZkMkJWTTFNVmtuZE8xV1dmcFoyQmlIcVhiUTBLNlFiemZ4VTVzbzErc3dXSjJBcXZXTUUyTWNUM2MybnJ4T2ZDeUtpdEk5WHhpOEM1S3N0anlJVU9NeWRkbHh6ZVlzZ3RLMTJXQTFER3BEZlpnd0hUeFpoMHpNV1NLZDl2eUIzZkd2R1RlQXcyYnB5aEhSUXAvakhQaE5RWFlwYVRvWjRKWWU1UGF2bGxzbDM4LzZhNk1CR3NDN3VHWE1JSVdTQy9zTVlZMk13YlMwUTR3YXlPSXhmYWJyamFkR1MwNHJJcVJRc3g0d21MS1E5dnowL3phMTV6c1FxYTFwSVJhTjNvTU1LSkVaN0xrR0hTL1M0emRGYW56a0JseVhtNVdDMzRlSUhRWmNrUnd4YUZaTGE2VG1DZ1J2MnNFYnZtYXVRMnVTMmdaa3o2aHBzMTIwaE1ldFVFOUpLcnRhL1czUEd0RVVGRW4yRE50d1BNV3k4eHo0VGt3WTFZMGU4d1crM3RsTERJM1NRamFEVTBmOU5Ecm5rTkI0V1lOV3Vua2FkQ1E2NjU5REJxSmVnaVJtVmFtSmZJblYyVWE2bGo0OGdGNWk2NkVvcDZsMWhXSmlFd2dnZVBpK0trYzQ1U1JMYmhzdjFUVFpvQis3dFpNVDZzbUx4L2lvWGs5N25ZcHNDSVEvOTVUS25JSjZRbncyeXc5WjRzYjFFV3g3QkZLMHJCeUZSM0tNODZSTmhCNXNjQUFCRy9TVVJCVklYY2wxQkJpTndGV0FhL1l0S3hvbnR4RmZpajBxR3h5MDVXeStzU0txeTdzbDFPeFZhajByaldpUGYvbDVMWk42UTNmenpzdlc4SEc1aUxwTjR3VEZDNFdMMWs0MGhEM3Y1dWtZdWw3bXBTTXN4UThIZE5tall6TmxhZGQ3Z0NUT3hrZGJTcEQ0dmNjaFpwTlRkL2FHd1Y3Mk12VWN6SnJJNGpGeVhuWEVjVHlOT0c4ZU9sWnpkVVFTazdINnlHVE5KZWN0RVJZWVo4Q1hZRllXb0JqRW5rajhBY0gvRENCR3Y2a1JUMTRsZm0rN2xxMjczaUpLclVNWWxZYkpBWTFOR1dCbUlNVzZURGRWOE1DMi9VVTZFWk9jOGhjc04zY1dQU0VkaFlHOUdOUktWdnNwM09mb3VXeVhxV2ZBM1JWM0dNMHVaM3RrWm9jWG11ZFBXZHFhMWt4UGwyQUMwSSsweEl2ckV2MW9aN0pzU2laWExKbjdBdmpUYzk1TmJkckd4TUZya1E5NVFaSEx6MDIvR3VIUHJSMWlRTWNGVWlsOVpTbzBEL3FSRHBTblBURGZLVXgzbFViSW1yWFNMQnV2dWQ5MUd4dk9iUnFFbmpUajV3SUErSURvcDJsWTJBQ1ZGSmVKbDJoamdrb1JUcFRWRTJDazl1RjAyNVhkS3VOSVl0MHVHcWEvbUZYYWt0YzdBQlhNTUh4SkViK1IycUpTUEluRkRSdEVHaXVmNTZ0NDkwSElDd0FLZ2xSTUZVa1l1MG0yUkgzcDFVYk0yRjliQzVITUVhRVRVMEtoamYwU0JLa1RiYmRnTWhlL3Vrc3pCVUU2L2s2bk9jL1ZOMnphVWpxdk5XV05NZ1FOYXNPZVIyNHNnRmY0Tll6YTU3d0JNcStqSTRpOFNPNFhnU3htaEJ0R0NSVytUckp2eTc3U2ppZ1RYWlIvVUJlZEo0WjlKL2wrUXFzZ1E5L2xuR0VVMmlJUS9kNklOMVl0RUttamdQeHBjd241TGxoZC9JRW9la29IZmhlcGFVemtraGRZNFhLRjBETVlyY29vMUhxQ3I5ZUNPandIZ3NjdUhFbGZ1cnJzdEdEdnJLaWU1ems2cTNMYWozazQ3cHRZR2FmQWVzSUp1UUg5YzhXaDdiR3VHbkgzMnlpOEh3YVpGajgrMEE4eU9xSzdLQVBzanRYV0hiSGx1d1hhSnoyWlJXOEV2cVN5YlROSk1uQ1F5NW1LQ1Rob2xGeXpDdWkwUStwbVBzUVpHTFBqT2pYRUJuc043WlphUmxrUXQ1emh0Q0N3NjVOZGNmdEc5Yy95WFN3MkZ5Q2pDVnExM2M3ZlhTK3hadDJpVFFrS2M0NkNKd2diRmE2aHNPZjh3R1lPUzVlL2hieGE1azhCU0ZBTXMrKzNIZHZTS1BSVFlzV3hTNTBLRmI3bWJKb1hUY1pNTG1MSEtCSU9WTzZ3M1o2bEUzSXpJZmxZN0dsMlFwZmN6MGwxN25tb1dlQzdZU2JZelhYUTZwck5KbjdzTC9TbmxYbHBLOGtQNnl5THRtNy9vblhoNloySm83dGpYaVY1WHI1NmlsV2pDUzREZXJhVHZHREl3Mk1wNFpoNTJONVZzQWk3b1dVUHVpeVRROTVKYmQxUEVtR0hJeGI3TEhCeldrQmtVdXZiKzNhQnBOYWl2cW5NMFE2aGE1bUZSbmRiQWNoOXpnTkEveXFDTTErc2pST29xUlFLcTdzR0I3SUpVbE5mZDBST1kzTU14MVYwY0dvdGxhNnVVWDFoZGVRNmNQRExaNFIyb3lVdGxBeWRLSzJrTmlMM25TRXNIV1Zaa290cUJENnhPVEk3VHl0ZHdxakFtenlJVUJxOEdXQ2xJY1VOMlZDZjBSbFE1MzZoN29IdTB2ZllGck50MFd1WkdwUW85cFp0bVZwYUM3NFZ5Vk05V2l5QjNiR3FFWkZhdFZRbGZyMndHMDdmVVJXZEZnZ3hva1dUVWJIZmxiVFYxVHBlTWhGOWF2QzQ3MzNHUmo0MlFESDNSNWxWamsyN1M0RDR4Y2VKODFxa2pYREcwSmFiK05HMTJ6VjJWaGN4VnA1anlRWmtiaS9kVlNrandtSTBhMVgwdHFiUkxueDcxRnlHOUFvSGVCNXBaMGxKQm1IU0pBaU5aU2gwZmhISG1DOFUxcmpUR2ZQRndPcVBEN25ET041bE8zMndEZ1RGdFJiSkhlMWszREMrVDdNSzltK290MUNvbm5nRjVjS2FFWWx3WXNJRitRZWYwUmwyNS83d3BjQ3lRMkxoMXd0SnBGbXZudHpKcWJWVHB0cFp4L29PNWtLWEt1RnFuTVhzUmtWR09Jc1RXWHZpVzZaaGhHc2NZTlU3K3E0R0JrMFRmdWVRZm9STlJxQVV6STBpb3p6SlYzMEVkTVpvRkkzbGdGVEZMWXBuVzZsOTdOa0p1NjVtQmJzaWZGSmRXNlFiTE0xYVUvVndYMFdXSE9QNWU2SHNnUWwrTGRkY1Y3OEpWU2Ftc1pXWXlWYm5RUnRwMGF2TDlha3VFeXJPNndLaSt2azdWZVZOWDBaeFcxMXp5S212NGxUb1BiNXVPWEx3aG5hcUVDOGJsMWpFc3c2UVdMRFVNWjVWNE91dk9JbmVjRjYrZkkzWnpUd3VlWllhUzJoOUNoalZWS0syRGRjSkhNMlExaU8yNVdERG1vV2JNUENIUVlsLzZJYXo2ZlVrZjZTTmMvTDBjOWJVSjlEVXFvQ3g1aTNhVHBYa1h4R2lmUXNZaDJLb2FjcGNocXE2WmMzb25KYWt5WHNJbURzWjVVMUhHdHNXT0FVdmNEUGZyQkd1TWpxU1hxVUVNMUtUOUxiR1lZZWJ2a1Y1MEVCTnZPblZXODFSd05OWlNVNmd1ZG00YW5NRk5Mcms5V3J0S1U0WnJuT2s4Wkl4WFcwRys2eTZ0b1pTZDFPVTFWdS83Vkd2TGZ1ZWkwSThtWGhFSWpMQUxydmd1SGpqSi9Rd0tiQlBGamFnVnRyVHdxeEcvSlp1eEhDWTF6SlZJQktYTEZjaUJCaTBHdnl5aXhXaWoyblFqanQ4bU9NUXBMR1NWQk85MjN1NHB6N3N3TlBWalNCV1duaVUzbVgxRzFxemlnd3kyZFBDSkhSK05XaEtQZnhYS3ptTkFSSWE2aVdncVBHQzNYZk8zRXBjTUV6QXdka3pEcEkvMHhPK0U1K29zNmJURFViSWpjck5MUlNXZHpWSVZXeVlDQ00wdW5FOGtqbVVSYnBmVW5iUzBOWWQ1YUhJMjhvY21qV0dQVitQdVVqNHNFK25hQWhjN3pKUFhBL25RWHRybDlQY1ZDVzlBTVZXZGtaSkc5aHEwSWxVcFFKWWZwTHdDdWRGVUJMVGlXcHlaOW9mMjZRNHU1Z1MrRGovLzM1OWNwL3pZamZNWXV1bzhwczRMdlZvbXZmQWN3M0VybWxIdUFqN2tvNjh5bWQ2QnpCVlAva0YxU0ZBVkcvcDNrNEdXWjZiekNMU3FHdjRiRzNaWlpVdk10MEpZTUE5MmJJSWhYTWtxa0ZwVkNNV0ZZeENwUnN1b2JmVkE2Y1BiNUdMSWFQbFdwSUt3d0YvN2lzQzNUQU1vNVF5eTdNZElzTFdzNkZ0MWJWTEx5RExyblVuM3VucStka3k1QS84USsrRlpSdkdGMkVHVm5HVlN0ai9RZk1SM0lsK1JoZmgvcCtib3g3eGMvQVVteUl5UTFpOXlzMHRFeGFXZUtuejZ6Rkxrd3JEb096ZVF2NTlJM3IydW1sdHRSaldtTnFUWWorQVUzVzdJVjN3NHdLVGI2b1dLTXRDdlpCdng0OVR1Z0NGenZlYjJzVU5Rei80dDN2a1hSNzd2N0Y3V2tqdG9zNXF0clFLNjRlc2Ryazl5RnUxSWtlM2ZMLzkxTWtrdHkyaDZUWHZwVEYzNkRCRHpyN3NVa2QvN08reWt0eEVOMzM5R0ZOSnUvN2U0N0NsSTZJUG5QS1hGY0x5U0VoaCttZkhxTzV1V1pOVDNHcWw1b3kwK1FNVzVkK1B1eU5xMzJiWlhTbnpDZ2Qra2ZDT2hnbnYxQ2VaN3E3WHcvYy83WDY1QW54SDEzLzBNdDRRdHZsZ1R4OGpkYXdSMVFWQ1JwU1pRZ3o5MzJLR0VtRGFjd1pCZ3dYNEhhRzVyM2c5d2I0Qy9CcENPYXJac2w3NFZLL2MrKzhDWTdTL2RlS01pNmtDTE45ZmxDNVJlMGcvNGc1cTBtZW5kcGNsNTYwN3grOGtScjhQZDEwMG5TWHpvZ2VVV0tiZW1Wdlk5MDQySU9pZVVXOVBkVGR6UzBjTXk4QVpPa2RGRHFLNTFpang5b2JuWExVaEtxNXVPR21LejdRcjBaYmJ6M1htZ24ybGlmZlVFZFdvOWxqZGpwcVFHZ3dZTHFuL24wN1FEbEs2YUU3c2EyT1cyN2RFb0Rva3V0UVFjMTdsTkpreDltRHdlcy9IUTN5ZjNjbFlTUVMyRVJiZnJWMVpaTndJQ3UzUHJaZEpVeVJWTzB6dGhBYXl0VE42Vm13ZjY4RU8rOTlmSGZ0NVAwRlRBODgyT3ZFYzhCZXgybXRVZ3lzUmt0aVp2YXlVeWx0MGpJZGI2WExmeVNqLzRvOUx6MElKOUp4Wk50U1dNZmNBWTl0NTlQRXJSZ3I0TGtrL09zYUxwcDZkcTlXa2FnMFozSmgzY1lZemVralpTZndhaDZyeWRaWDN1emRHeFd5b2xVUFBFN2ovOFIvcitaU25FMXpYaSt6ZFRma0VYUVllLzFuL3VUajRoM3lhejhVOVhlRy8rOFJ1czViRmI4a0NJbm54VGlOLy9uNSszS1BtK2NBb3Eza1k2ZVhQMHZuL3UwUFZlbG1ZaEovekhSZXkxY0FGcHJ5YTZ1NmxaRDVJWlRCYlpxSnNiSlV1QVpiTSsxWkhRa1hkRnAzQ2lrVk5laU05YnZxdkp4ckJHVzA1WlN2UC9jSkVwZ0IraEFWekxxajRvZjFQQ2lhRHJ0blQ3NzhNTm5UNlVLdWJNM0thNzBGS2gwblQxbGtKdjhHZWJnck5pNnlKQjc2dlR0RHo5NDVwUlpjNzVNcWxDUUtQWWc0Y0d6cCtDQVpnVzQ1UFdnNU15TFV5Wi94aUEzK1dPcFJlV3ZxUXMvSWZQZjZTSjVvbjR6akVwZHgwdENuQkc5MThseklUYzdmaHdDVnF3K1FyenE4WmY5QXZyVDFsVVgxWjArUDdMMThhc3VoK095VTZRRjZxNG16d24wLzNiU2kxNDdJcldNZ0pJT2owdyt2QjgzUXNPQ29mTUVYYkYxMzUySWs2UmJjZ0pJTDdqTVdKTW1xWis2VDhnMXM5UlEvQ2Zxa3ZkOXB2WXNTZFY3bVMvMUxGbitUN3BiRm82NEhmUzIwblZQWkFoRkxmU1JUaE8rbFlxYnVqc2dONXdxU0R4UmY2L3B1cjVuS2NtWHJxNEhUTWZycjloY2M3UTVxeFlnMTJoTEkzY2NhenhzZG00SG1NSmtzNEVkekFaeldMWlljSjJjVkdydUxXZDY3Mm5nMVBiMFEzZDg3RysxSTJLL2NYLzY4a0tFUGdEcE0vZWtONysxNnhpLzl1b0h0djROeSt1UzNIOS9vUGZ5QnVMbzB3Lzkyc2QrOTNPYVdzejRxMWtkN1FydGtuQ3l0NnFaMVkwajF5dllOaE9yVlEyam9rQkM5alc0Z0dId2JQNGpFbVJDdks4YlZNcjl0d2Q2dDZrZFQxQ1N6ZWEvK0VEdlBWanh6Slgvdlh2UzIvN0s1T3c5Lzc4ZTJQcFZtNXMxRm1rcGZSTFVrL2Q4M0JYMmtaNTg1djcwOUQ4RjJ3ZHZ2KzhmL085YnU3cEN1T1lTT2FaMHpUN2NiWjRoZC91YW8xdWovV1A2QlJha3lNWUNPOGdGRHI4NXNXRnVQN1Q5VlhwQWZEdlRvUmZkYzZaMys2KzBxeVlzcm5wT1dQMjVkNmJTRG9Sb3JlTFBiRjlyVXp5MVBjTXdwVjk3TlVLT2QyZGhOb3lNMFhoVC90aDFOQkVEMUlvZ042cjBBVVJsV2V3WFdMTkZFNk5zNm4wbkFybkx2dERRRG9LL0RidkVUMFA5bWpkdzdsQVltYml4VnZWVHE1eG9PeUkySGY2eEJ5L2FKajFTclJZL0dObEcrRDR2S3J2SWVSZDdHa0h1U0VxUGRsSC9lVWUwYkZMRXBqa3hUa045M1NCMk1DbEZLVGs0MyswbnNLYlBBWTVwQkdzKzg2UFMvYXJGNlNQVktvbENYTnIxUmQwTTE1QmQ2WDRFdVNNcFBkcTVwaGQyUlZuR0pwcWxGc2UzRFYvWURXSUgvcURHemxWRE5WbUpkWDFJVDErOFl0ZmhiSGpOU3ZzbFI2bVZtOWdCVmI5ZTdRMzlTTGh2MjVWbUk4Z2RSZW54dmxVVzQvUkpVa3RpVllyREF4amM3M0dpYnhRN2NDT2FTR29qZUVYT0NkVW52NGVEemVhQllCUGlLbXlYR3FYVzRjZ2VmTHMyOW12WjNsaGVCTG1qS0QydXhEUk9uaVFWMFo5YTJPZHBBNWRqZ2Q2TllnZVQxQlprSFRhN2k0emNWSjRZNENIbXNsZTBzT1psQjh5TVVtdFRPK0VCbTlpL2JKVzlpUG9qeUIxRjZWRXR6dXpCNlMyZTBoWms0MDF5MklmWnc3c2J4ZzZpdWgyWm1NODhlRGVpVWlGKzladC9FNDg3dTRZaTc1V0xYbmJBekNpMXludGg4QVAyZnl5MlBURzlDSEpIVVhwMG9QSzcydEdTeVJFUG1STVgrUjd4Z2FlYzVCdkdEdHlRSnBMcXF4ZjFpa0w0NmtKK3BNQnBsRnI1L3NmZUV4bjQzZ2s1MURldW1XQWZjTENqb2swcmN4U2wyOHBlNHRKbEw3c3JtV05tQ1pGQlhtZlpObkxqMklFZDBtUVNCOE16ZUNPMnJ0OWRXRElFZWVkaGpGZXdiV2FVV29jRTg3dmJTdC8zaFNYemFId1hlNHEzV2xkODhhTW8zWmRnY3BWekpyVjc5M256T0pkT1J2UHNTZVFOWkFlVDFkNXN2M09ncWtadXdXdHY0N2xlZHNETUtMVTJnamZmQjJ4cVA3SVZkL3Rkakc4Ky9yd3lYdUg4bmM5OWt3MS9GS1d6Nmk2WjYzVmRacmRTUlJPWWxESHYvUC9uYnlBN21MRHVLdmI5YWw5d1J5SDNCejYxZnRIUEQ1WWJwVlo5RDQ1RkJ1djkyRnlITSsrWWppM1NFK0Mrd2NJajVsR1U3b2sxbVdPQkRSajZSTzlsODlSN1F5em41RThYYVBFM2tCMU1WR0gwOWVybHFNUk5oVndmcVlmREw1SkVxNGJFVVdxZDJPa2ZCTU5HOW5PK05OS0xad09QQ0s5RzQyc2UrTjVIeXBBN2l0TGpMVlpXNC9TSlVpc20ySjhUVitwTVhUZVVIVXhVWS9qRngyOUZCYXJ2NndYdXRqTlNzRHhLcmMzZGpqQ2pnOTRsNG9ZbzdKTGsvbUpIVVhwVTJvbTlDSmFUcno2cnExdi9jb2wvK2VhR3NvT29ma2NuTnRuMzhiZ1U3SnpFVm9GVDhNVTNQKzhWOXMyTVZLdm12N3JWVi9oMVVjQitRV2V2K2p1UzBxT2RLOFk5ZTVSMzhzUWJ5ZzRtcko3amZWNmptdmxsOFZPTGZsdHp2K1huQjh1TlV1dHdueGgrc0JiM0hWZHJ6emZ0b3lnOXJyWS9iTWZwZTBLOXdleGd3am9yNzhGRGkyRzczQnBwUXoxc0szdkdmOGpzNHZhc3hSdWtvUnZNRGlZOEs0ZmNyNmROV1BMSTR1WnVORXN2czlmNVJ0YkswNi9pRFdjSEU1N0NWbkFPTldIeEk0aGJZS2VMSTFUZmYxV080eW5sOUJwYUF6ZWNIUXl0Z2UwcnpJMTA4TFM5ekxGSzgrenB4bGlDOWsvbDVqVTk1OWsvZWhpcUp6ZWdIUXcxL3AyWlA5WGVtV2N2T2ZKdjI4dlc5cVN0M0p2MnBKa2JxNUhkc0lQL0Qwb01sckk5VjVrQUFBQUFBRWxGVGtTdVFtQ0MiCn0K"/>
    </extobj>
  </extobjs>
</s:customData>
</file>

<file path=ppt/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Type="http://schemas.openxmlformats.org/officeDocument/2006/relationships/slide" Target="../slides/slide26.xml" Id="R360b02a3878d46ce"/><Relationship Type="http://schemas.openxmlformats.org/officeDocument/2006/relationships/notesMaster" Target="../notesMasters/notesMaster1.xml" Id="R7eef81954af943aa"/></Relationships>
</file>

<file path=ppt/notesSlides/_rels/notesSlide27.xml.rels><?xml version='1.0' encoding='UTF-8' standalone='yes'?>
<Relationships xmlns="http://schemas.openxmlformats.org/package/2006/relationships"><Relationship Type="http://schemas.openxmlformats.org/officeDocument/2006/relationships/slide" Target="../slides/slide27.xml" Id="R54b337b73f89472f"/><Relationship Type="http://schemas.openxmlformats.org/officeDocument/2006/relationships/notesMaster" Target="../notesMasters/notesMaster1.xml" Id="R3ff68768a7924e7f"/></Relationships>
</file>

<file path=ppt/notesSlides/_rels/notesSlide28.xml.rels><?xml version='1.0' encoding='UTF-8' standalone='yes'?>
<Relationships xmlns="http://schemas.openxmlformats.org/package/2006/relationships"><Relationship Type="http://schemas.openxmlformats.org/officeDocument/2006/relationships/slide" Target="../slides/slide28.xml" Id="R5aae283913b646e7"/><Relationship Type="http://schemas.openxmlformats.org/officeDocument/2006/relationships/notesMaster" Target="../notesMasters/notesMaster1.xml" Id="R88dd1d4a1bfa4748"/></Relationships>
</file>

<file path=ppt/notesSlides/_rels/notesSlide29.xml.rels><?xml version='1.0' encoding='UTF-8' standalone='yes'?>
<Relationships xmlns="http://schemas.openxmlformats.org/package/2006/relationships"><Relationship Type="http://schemas.openxmlformats.org/officeDocument/2006/relationships/slide" Target="../slides/slide29.xml" Id="R861ecd6f17d944b6"/><Relationship Type="http://schemas.openxmlformats.org/officeDocument/2006/relationships/notesMaster" Target="../notesMasters/notesMaster1.xml" Id="R313e38d00af44730"/></Relationships>
</file>

<file path=ppt/notesSlides/_rels/notesSlide30.xml.rels><?xml version='1.0' encoding='UTF-8' standalone='yes'?>
<Relationships xmlns="http://schemas.openxmlformats.org/package/2006/relationships"><Relationship Type="http://schemas.openxmlformats.org/officeDocument/2006/relationships/slide" Target="../slides/slide30.xml" Id="Rf74fa3eb220f4103"/><Relationship Type="http://schemas.openxmlformats.org/officeDocument/2006/relationships/notesMaster" Target="../notesMasters/notesMaster1.xml" Id="R220e793a3f5f4c28"/></Relationships>
</file>

<file path=ppt/notesSlides/_rels/notesSlide31.xml.rels><?xml version='1.0' encoding='UTF-8' standalone='yes'?>
<Relationships xmlns="http://schemas.openxmlformats.org/package/2006/relationships"><Relationship Type="http://schemas.openxmlformats.org/officeDocument/2006/relationships/slide" Target="../slides/slide31.xml" Id="R628762084f3e41df"/><Relationship Type="http://schemas.openxmlformats.org/officeDocument/2006/relationships/notesMaster" Target="../notesMasters/notesMaster1.xml" Id="Rfb97463a129f48b3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内容依据：/Users/lipeiyu/Desktop/ReRead AttentionIsAllYouNeedpdf.pdf，第 2 页。</a:t>
            </a:r>
          </a:p>
          <a:p xmlns:a="http://schemas.openxmlformats.org/drawingml/2006/main">
            <a:r>
              <a:t>原文：Vaswani et al., Attention Is All You Need, 第 4 节、表 1。</a:t>
            </a:r>
          </a:p>
          <a:p xmlns:a="http://schemas.openxmlformats.org/drawingml/2006/main">
            <a:r>
              <a:t>https://proceedings.neurips.cc/paper_files/paper/2017/file/3f5ee243547dee91fbd053c1c4a845aa-Paper.pdf</a:t>
            </a:r>
          </a:p>
          <a:p xmlns:a="http://schemas.openxmlformats.org/drawingml/2006/main">
            <a:r>
              <a:t>自注意力：每层 O(n²d)，顺序操作 O(1)，最大路径 O(1)。循环层：每层 O(nd²)，顺序操作 O(n)，最大路径 O(n)。n 为序列长度，d 为表示维度。论文在 n&lt;d 时比较出自注意力的计算优势。减少顺序操作和降低总运算量是不同的比较维度。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内容依据：/Users/lipeiyu/Desktop/ReRead AttentionIsAllYouNeedpdf.pdf，第 2 页。</a:t>
            </a:r>
          </a:p>
          <a:p xmlns:a="http://schemas.openxmlformats.org/drawingml/2006/main">
            <a:r>
              <a:t>原文：Vaswani et al., Attention Is All You Need, 第 5.1、5.4 节。</a:t>
            </a:r>
          </a:p>
          <a:p xmlns:a="http://schemas.openxmlformats.org/drawingml/2006/main">
            <a:r>
              <a:t>https://proceedings.neurips.cc/paper_files/paper/2017/file/3f5ee243547dee91fbd053c1c4a845aa-Paper.pdf</a:t>
            </a:r>
          </a:p>
          <a:p xmlns:a="http://schemas.openxmlformats.org/drawingml/2006/main">
            <a:r>
              <a:t>英德数据按论文记为 4.5 million sentence pairs，英法按论文原文记为 36M sentences。残差 Dropout 作用在子层输出相加与归一化之前，Embedding 与位置编码的和也使用 Dropout。Label Smoothing 的 ε_ls=0.1。论文采用 Adam 和前 4,000 步学习率 warmup。8 张 P100 GPU 上，Base 训练约 12 小时，Big 约 3.5 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内容依据：/Users/lipeiyu/Desktop/ReRead AttentionIsAllYouNeedpdf.pdf，第 2 页。</a:t>
            </a:r>
          </a:p>
          <a:p xmlns:a="http://schemas.openxmlformats.org/drawingml/2006/main">
            <a:r>
              <a:t>原文：Vaswani et al., Attention Is All You Need, 第 6.1 节、表 2。</a:t>
            </a:r>
          </a:p>
          <a:p xmlns:a="http://schemas.openxmlformats.org/drawingml/2006/main">
            <a:r>
              <a:t>https://proceedings.neurips.cc/paper_files/paper/2017/file/3f5ee243547dee91fbd053c1c4a845aa-Paper.pdf</a:t>
            </a:r>
          </a:p>
          <a:p xmlns:a="http://schemas.openxmlformats.org/drawingml/2006/main">
            <a:r>
              <a:t>结果使用 NeurIPS 2017 会议版表 2：Base EN-DE/EN-FR=27.3/38.1，Big=28.4/41.0。英法比较范围是此前单模型，训练开销比较对象是此前最佳单模型。arXiv v7 的摘要与表 2 列出 41.8，而第 6.1 节正文仍为 41.0，存在版本内差异。此页采用会议版一致数据。BLEU 比较需保持同一任务、测试集与评估设置。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内容依据：/Users/lipeiyu/Desktop/ReRead AttentionIsAllYouNeedpdf.pdf，第 2 页表格截图。</a:t>
            </a:r>
          </a:p>
          <a:p xmlns:a="http://schemas.openxmlformats.org/drawingml/2006/main">
            <a:r>
              <a:t>原文：Vaswani et al., Attention Is All You Need, 第 6.2 节、表 3。</a:t>
            </a:r>
          </a:p>
          <a:p xmlns:a="http://schemas.openxmlformats.org/drawingml/2006/main">
            <a:r>
              <a:t>https://proceedings.neurips.cc/paper_files/paper/2017/file/3f5ee243547dee91fbd053c1c4a845aa-Paper.pdf</a:t>
            </a:r>
          </a:p>
          <a:p xmlns:a="http://schemas.openxmlformats.org/drawingml/2006/main">
            <a:r>
              <a:t>表中未列出的参数保持 Base 设置。Base N=6、d_model=512、d_ff=2048、h=8、d_k=d_v=64、Dropout=0.1、Label Smoothing=0.1。注意力头数量实验同时改变每头 d_k/d_v，以保持计算量近似不变，因此不是把完整维度的头数独立扩大。开发集结果不与上一页 newstest2014 测试集结果直接比较。图片中各行数值与原论文表 3 核对一致。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内容依据：/Users/lipeiyu/Desktop/ReRead AttentionIsAllYouNeedpdf.pdf，第 3 页。</a:t>
            </a:r>
          </a:p>
          <a:p xmlns:a="http://schemas.openxmlformats.org/drawingml/2006/main">
            <a:r>
              <a:t>原文：Vaswani et al., Attention Is All You Need, arXiv 第 6.3 节、表 4。</a:t>
            </a:r>
          </a:p>
          <a:p xmlns:a="http://schemas.openxmlformats.org/drawingml/2006/main">
            <a:r>
              <a:t>https://arxiv.org/pdf/1706.03762</a:t>
            </a:r>
          </a:p>
          <a:p xmlns:a="http://schemas.openxmlformats.org/drawingml/2006/main">
            <a:r>
              <a:t>F1 为 WSJ Section 23 上的成分句法分析结果，越高越好。Berkeley Parser 对应 Petrov et al. (2006)。4 层 Transformer 的 d_model=1024，训练集约 40K 句。半监督训练约 17M 句时，Transformer 的 F1=92.7。此实验支持跨任务适用性，不表示超过所有专门句法模型。NeurIPS 会议版未包含第 6.3 节，这一页使用 arXiv 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内容依据：/Users/lipeiyu/Desktop/ReRead AttentionIsAllYouNeedpdf.pdf，第 2–3 页的实验总结。</a:t>
            </a:r>
          </a:p>
          <a:p xmlns:a="http://schemas.openxmlformats.org/drawingml/2006/main">
            <a:r>
              <a:t>原文：Vaswani et al., Attention Is All You Need, 第 7 节；arXiv 第 6.3 节。</a:t>
            </a:r>
          </a:p>
          <a:p xmlns:a="http://schemas.openxmlformats.org/drawingml/2006/main">
            <a:r>
              <a:t>https://proceedings.neurips.cc/paper_files/paper/2017/file/3f5ee243547dee91fbd053c1c4a845aa-Paper.pdf</a:t>
            </a:r>
          </a:p>
          <a:p xmlns:a="http://schemas.openxmlformats.org/drawingml/2006/main">
            <a:r>
              <a:t>原论文结论提出探索文本之外的输入输出模态、用于大规模输入输出的局部受限注意力，以及减少生成时的顺序计算。ViT 是后续研究，本页最后一句用于衔接下一部分，原 Transformer 论文没有提出 ViT。</a:t>
            </a:r>
          </a:p>
          <a:p xmlns:a="http://schemas.openxmlformats.org/drawingml/2006/main">
            <a:r>
              <a:t>句法分析实验来源：https://arxiv.org/pdf/1706.03762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buNone/>
              <a:defRPr sz="1400"/>
            </a:lvl1pPr>
          </a:lstStyle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buNone/>
              <a:defRPr sz="1400"/>
            </a:lvl1pPr>
          </a:lstStyle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buNone/>
              <a:defRPr sz="1400"/>
            </a:lvl1pPr>
          </a:lstStyle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indent="0" algn="ctr" defTabSz="914400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L="9144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L="13716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L="18288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L="22860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L="27432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L="32004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L="36576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.xml" Id="R8624641ce3f44b74"/><Relationship Type="http://schemas.openxmlformats.org/officeDocument/2006/relationships/notesSlide" Target="../notesSlides/notesSlide26.xml" Id="R54b7c0d5b0884fcd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.xml" Id="R70f42c8048694509"/><Relationship Type="http://schemas.openxmlformats.org/officeDocument/2006/relationships/notesSlide" Target="../notesSlides/notesSlide27.xml" Id="R38b9e1edfa9b4ebc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.xml" Id="Rb2755bacbb2647c1"/><Relationship Type="http://schemas.openxmlformats.org/officeDocument/2006/relationships/notesSlide" Target="../notesSlides/notesSlide28.xml" Id="R2cc0a41711e94cd6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.xml" Id="R00c188c1057c462f"/><Relationship Type="http://schemas.openxmlformats.org/officeDocument/2006/relationships/notesSlide" Target="../notesSlides/notesSlide29.xml" Id="Rf37d6241f91148c4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.xml" Id="Rc17e07bbc7ee4856"/><Relationship Type="http://schemas.openxmlformats.org/officeDocument/2006/relationships/notesSlide" Target="../notesSlides/notesSlide30.xml" Id="R44aefafb7ddb4062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.xml" Id="Rfe9fcf720ae34778"/><Relationship Type="http://schemas.openxmlformats.org/officeDocument/2006/relationships/notesSlide" Target="../notesSlides/notesSlide31.xml" Id="Rd15f9b810383408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685800" y="2381250"/>
            <a:ext cx="77724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学习汇报</a:t>
            </a:r>
            <a:endParaRPr sz="4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副标题"/>
          <p:cNvSpPr>
            <a:spLocks noGrp="1"/>
          </p:cNvSpPr>
          <p:nvPr/>
        </p:nvSpPr>
        <p:spPr>
          <a:xfrm>
            <a:off x="685800" y="3695700"/>
            <a:ext cx="77724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CIFAR-10 实验与 Transformer、ViT 精读</a:t>
            </a:r>
            <a:endParaRPr sz="2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目录</a:t>
            </a:r>
            <a:endParaRPr sz="4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71650"/>
            <a:ext cx="8039100" cy="323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2400"/>
              </a:spcAft>
              <a:buChar char="•"/>
              <a:defRPr sz="2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CIFAR-10：MLP、CNN 与 ResNet-18 实验</a:t>
            </a:r>
          </a:p>
          <a:p>
            <a:pPr marL="228600" indent="-114300" algn="l">
              <a:spcAft>
                <a:spcPts val="2400"/>
              </a:spcAft>
              <a:buChar char="•"/>
              <a:defRPr sz="2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Attention Is All You Need：Transformer 精读</a:t>
            </a:r>
          </a:p>
          <a:p>
            <a:pPr marL="228600" indent="-114300" algn="l">
              <a:spcAft>
                <a:spcPts val="2400"/>
              </a:spcAft>
              <a:buChar char="•"/>
              <a:defRPr sz="2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Vision Transformer：ViT 精读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CIFAR-10 实验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14500"/>
            <a:ext cx="8039100" cy="409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数据：32×32 彩色图像，共 10 类。训练集 50,000 张，测试集 10,000 张。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模型：MLP、两层卷积的 CNN，以及使用 BasicBlock 的 ResNet-18。三个模型都训练了 80 轮。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CNN / MLP：SGD，学习率 0.1，batch size = 256，无图像增广。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ResNet-18：SGD 加动量，分阶段降低学习率，batch size = 512，</a:t>
            </a:r>
            <a:r>
              <a:rPr lang="zh-CN"/>
              <a:t>会</a:t>
            </a:r>
            <a:r>
              <a:t>使用随机裁剪和水平翻转。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CIFAR-10 实验结果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552450" y="1714500"/>
          <a:ext cx="8039100" cy="2571750"/>
        </p:xfrm>
        <a:graphic>
          <a:graphicData uri="http://schemas.openxmlformats.org/drawingml/2006/table">
            <a:tbl>
              <a:tblPr/>
              <a:tblGrid>
                <a:gridCol w="1752600"/>
                <a:gridCol w="1952625"/>
                <a:gridCol w="1952625"/>
                <a:gridCol w="2381250"/>
              </a:tblGrid>
              <a:tr h="5334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模型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训练准确率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测试准确率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历史最佳测试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679447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ResNet-18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96.96%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84.41%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84.50%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第 60 轮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447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CNN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87.49%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55.35%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57.96%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第 37 轮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447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MLP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84.08%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44.69%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52.53%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第 36 轮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说明"/>
          <p:cNvSpPr>
            <a:spLocks noGrp="1"/>
          </p:cNvSpPr>
          <p:nvPr/>
        </p:nvSpPr>
        <p:spPr>
          <a:xfrm>
            <a:off x="552450" y="4467225"/>
            <a:ext cx="80391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训练和测试准确率取第 80 轮。历史最佳来自逐轮测试记录。</a:t>
            </a:r>
            <a:endParaRPr sz="1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正文"/>
          <p:cNvSpPr>
            <a:spLocks noGrp="1"/>
          </p:cNvSpPr>
          <p:nvPr/>
        </p:nvSpPr>
        <p:spPr>
          <a:xfrm>
            <a:off x="552450" y="5095875"/>
            <a:ext cx="8039100" cy="1390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0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这次运行中，ResNet-18 的测试准确率最高。CNN 和 MLP 的训练与测试结果差距较大。</a:t>
            </a:r>
          </a:p>
          <a:p>
            <a:pPr marL="228600" indent="-114300" algn="l">
              <a:spcAft>
                <a:spcPts val="10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三者训练配置不同，结果不能全部归因于网络结构。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CIFAR-10 准确率曲线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5" name="Chart"/>
          <p:cNvGraphicFramePr/>
          <p:nvPr/>
        </p:nvGraphicFramePr>
        <p:xfrm>
          <a:off x="523875" y="1457325"/>
          <a:ext cx="8096250" cy="394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正文"/>
          <p:cNvSpPr>
            <a:spLocks noGrp="1"/>
          </p:cNvSpPr>
          <p:nvPr/>
        </p:nvSpPr>
        <p:spPr>
          <a:xfrm>
            <a:off x="552450" y="5591175"/>
            <a:ext cx="80391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0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实线是训练集，虚线是测试集。曲线保留全部 80 轮记录。</a:t>
            </a:r>
          </a:p>
          <a:p>
            <a:pPr marL="228600" indent="-114300" algn="l">
              <a:spcAft>
                <a:spcPts val="10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ResNet-18 的测试准确率后期稳定在 84% 左右。CNN 和 MLP 的训练准确率继续上升，测试提升较有限。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CIFAR-10 损失曲线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5" name="Chart"/>
          <p:cNvGraphicFramePr/>
          <p:nvPr/>
        </p:nvGraphicFramePr>
        <p:xfrm>
          <a:off x="523875" y="1457325"/>
          <a:ext cx="8096250" cy="394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正文"/>
          <p:cNvSpPr>
            <a:spLocks noGrp="1"/>
          </p:cNvSpPr>
          <p:nvPr/>
        </p:nvSpPr>
        <p:spPr>
          <a:xfrm>
            <a:off x="552450" y="5591175"/>
            <a:ext cx="80391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0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三个模型的训练损失都在下降。CNN 和 MLP 的测试损失后期明显上升，表现出过拟合迹象。</a:t>
            </a:r>
          </a:p>
          <a:p>
            <a:pPr marL="228600" indent="-114300" algn="l">
              <a:spcAft>
                <a:spcPts val="10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ResNet-18 的测试损失后期也略有上升，需要同时看测试准确率和损失。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Attention Is All You Need</a:t>
            </a:r>
            <a:endParaRPr sz="3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62125"/>
            <a:ext cx="80391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Transformer 使用注意力处理序列，</a:t>
            </a:r>
            <a:r>
              <a:rPr lang="zh-CN"/>
              <a:t>没有使用</a:t>
            </a:r>
            <a:r>
              <a:t>循环层和卷积层。</a:t>
            </a:r>
          </a:p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RNN 的隐藏状态依赖前一个时间步，同一序列内部难以并行计算。</a:t>
            </a:r>
          </a:p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自注意力让不同位置直接交换信息，缩短远距离依赖的传递路径。</a:t>
            </a:r>
          </a:p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主要实验任务是机器翻译。训练时可以并行计算，</a:t>
            </a:r>
            <a:r>
              <a:rPr lang="zh-CN"/>
              <a:t>因此效率更高</a:t>
            </a:r>
            <a:r>
              <a:rPr lang="en-US" altLang="zh-CN"/>
              <a:t>。</a:t>
            </a:r>
            <a:r>
              <a:t>生成时仍逐个预测 token。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Transformer 架构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Encoder"/>
          <p:cNvSpPr>
            <a:spLocks noGrp="1"/>
          </p:cNvSpPr>
          <p:nvPr/>
        </p:nvSpPr>
        <p:spPr>
          <a:xfrm>
            <a:off x="552450" y="1857375"/>
            <a:ext cx="396240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Encoder：6 层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多头自注意力 + 前馈网络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Decoder"/>
          <p:cNvSpPr>
            <a:spLocks noGrp="1"/>
          </p:cNvSpPr>
          <p:nvPr/>
        </p:nvSpPr>
        <p:spPr>
          <a:xfrm>
            <a:off x="552450" y="3238500"/>
            <a:ext cx="3962400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Decoder：6 层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掩码自注意力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交叉注意力 + 前馈网络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AddNorm"/>
          <p:cNvSpPr>
            <a:spLocks noGrp="1"/>
          </p:cNvSpPr>
          <p:nvPr/>
        </p:nvSpPr>
        <p:spPr>
          <a:xfrm>
            <a:off x="552450" y="5000625"/>
            <a:ext cx="39624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每个子层都有残差连接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和层归一化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7498" y="1419225"/>
            <a:ext cx="3483804" cy="5076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Q、K、V</a:t>
            </a:r>
            <a:endParaRPr sz="4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43075"/>
            <a:ext cx="8039100" cy="2171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800"/>
              </a:spcAft>
              <a:buChar char="•"/>
              <a:defRPr sz="2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Q：当前 token 想找什么信息。</a:t>
            </a:r>
          </a:p>
          <a:p>
            <a:pPr marL="228600" indent="-114300" algn="l">
              <a:spcAft>
                <a:spcPts val="1800"/>
              </a:spcAft>
              <a:buChar char="•"/>
              <a:defRPr sz="2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K：每个 token 提供什么信息供匹配。</a:t>
            </a:r>
          </a:p>
          <a:p>
            <a:pPr marL="228600" indent="-114300" algn="l">
              <a:spcAft>
                <a:spcPts val="1800"/>
              </a:spcAft>
              <a:buChar char="•"/>
              <a:defRPr sz="2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V：根据匹配结果，实际取回的内容。</a:t>
            </a:r>
          </a:p>
        </p:txBody>
      </p:sp>
      <p:sp>
        <p:nvSpPr>
          <p:cNvPr id="3" name="公式"/>
          <p:cNvSpPr>
            <a:spLocks noGrp="1"/>
          </p:cNvSpPr>
          <p:nvPr/>
        </p:nvSpPr>
        <p:spPr>
          <a:xfrm>
            <a:off x="685800" y="4181475"/>
            <a:ext cx="7772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</a:t>
            </a:r>
            <a:endParaRPr sz="2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解释"/>
          <p:cNvSpPr>
            <a:spLocks noGrp="1"/>
          </p:cNvSpPr>
          <p:nvPr/>
        </p:nvSpPr>
        <p:spPr>
          <a:xfrm>
            <a:off x="685800" y="5181600"/>
            <a:ext cx="7772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自注意力中，Q、K、V </a:t>
            </a:r>
            <a:r>
              <a:rPr lang="zh-CN"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对应的</a:t>
            </a:r>
            <a:r>
              <a:rPr lang="en-US" altLang="zh-CN"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</a:t>
            </a: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通过三组不同的可学习线性变换得到。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" name="334E55B0-647D-440b-865C-3EC943EB4CBC-1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4165" y="3789045"/>
            <a:ext cx="2513330" cy="445135"/>
          </a:xfrm>
          <a:prstGeom prst="rect">
            <a:avLst/>
          </a:prstGeom>
        </p:spPr>
      </p:pic>
      <p:pic>
        <p:nvPicPr>
          <p:cNvPr id="7" name="334E55B0-647D-440b-865C-3EC943EB4CBC-2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5" y="3789045"/>
            <a:ext cx="2290445" cy="501015"/>
          </a:xfrm>
          <a:prstGeom prst="rect">
            <a:avLst/>
          </a:prstGeom>
        </p:spPr>
      </p:pic>
      <p:pic>
        <p:nvPicPr>
          <p:cNvPr id="8" name="334E55B0-647D-440b-865C-3EC943EB4CBC-3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990" y="3739515"/>
            <a:ext cx="2625725" cy="4946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缩放点积注意力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公式"/>
          <p:cNvSpPr>
            <a:spLocks noGrp="1"/>
          </p:cNvSpPr>
          <p:nvPr/>
        </p:nvSpPr>
        <p:spPr>
          <a:xfrm>
            <a:off x="514350" y="1685925"/>
            <a:ext cx="81153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3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23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正文"/>
          <p:cNvSpPr>
            <a:spLocks noGrp="1"/>
          </p:cNvSpPr>
          <p:nvPr/>
        </p:nvSpPr>
        <p:spPr>
          <a:xfrm>
            <a:off x="552450" y="2867025"/>
            <a:ext cx="8039100" cy="3362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7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QKᵀ 计算查询与各个键的相似度。</a:t>
            </a:r>
          </a:p>
          <a:p>
            <a:pPr marL="228600" indent="-114300" algn="l">
              <a:spcAft>
                <a:spcPts val="17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d</a:t>
            </a:r>
            <a:r>
              <a:rPr lang="en-US"/>
              <a:t>k</a:t>
            </a:r>
            <a:r>
              <a:t> 是每个注意力头中 Q、K 向量的维度。除以</a:t>
            </a:r>
            <a:r>
              <a:rPr lang="en-US"/>
              <a:t>sqrt(dk)</a:t>
            </a:r>
            <a:r>
              <a:t>，避免分数过大时 softmax 梯度过小。</a:t>
            </a:r>
          </a:p>
          <a:p>
            <a:pPr marL="228600" indent="-114300" algn="l">
              <a:spcAft>
                <a:spcPts val="17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softmax 得到注意力权重，再对 V 加权求和。</a:t>
            </a:r>
          </a:p>
          <a:p>
            <a:pPr marL="228600" indent="-114300" algn="l">
              <a:spcAft>
                <a:spcPts val="17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Decoder 的自注意力会遮住未来位置，防止预测时使用后面的答案。</a:t>
            </a:r>
          </a:p>
        </p:txBody>
      </p:sp>
      <p:pic>
        <p:nvPicPr>
          <p:cNvPr id="5" name="334E55B0-647D-440b-865C-3EC943EB4CBC-4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985" y="1412875"/>
            <a:ext cx="6228080" cy="8451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多头注意力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43075"/>
            <a:ext cx="8039100" cy="2276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并行计算多个注意力头。每个头使用不同的投影参数。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把各个头的输出拼接，再做一次线性变换。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不同的头可以关注不同位置和表示子空间中的信息。</a:t>
            </a:r>
          </a:p>
        </p:txBody>
      </p:sp>
      <p:sp>
        <p:nvSpPr>
          <p:cNvPr id="3" name="公式"/>
          <p:cNvSpPr>
            <a:spLocks noGrp="1"/>
          </p:cNvSpPr>
          <p:nvPr/>
        </p:nvSpPr>
        <p:spPr>
          <a:xfrm>
            <a:off x="552450" y="4333875"/>
            <a:ext cx="80391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2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endParaRPr lang="en-US" sz="2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头参数"/>
          <p:cNvSpPr>
            <a:spLocks noGrp="1"/>
          </p:cNvSpPr>
          <p:nvPr/>
        </p:nvSpPr>
        <p:spPr>
          <a:xfrm>
            <a:off x="552450" y="5191125"/>
            <a:ext cx="80391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每个头分别学习 Q、K、V 的投影矩阵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" name="334E55B0-647D-440b-865C-3EC943EB4CBC-5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855" y="3738245"/>
            <a:ext cx="8670290" cy="4362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前馈网络与残差连接</a:t>
            </a:r>
            <a:endParaRPr sz="3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前馈公式"/>
          <p:cNvSpPr>
            <a:spLocks noGrp="1"/>
          </p:cNvSpPr>
          <p:nvPr/>
        </p:nvSpPr>
        <p:spPr>
          <a:xfrm>
            <a:off x="552450" y="1638300"/>
            <a:ext cx="80391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FFN(x) = ReLU(xW+ b₁)W₂ + b₂</a:t>
            </a:r>
            <a:endParaRPr sz="2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正文"/>
          <p:cNvSpPr>
            <a:spLocks noGrp="1"/>
          </p:cNvSpPr>
          <p:nvPr/>
        </p:nvSpPr>
        <p:spPr>
          <a:xfrm>
            <a:off x="552450" y="2571750"/>
            <a:ext cx="80391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7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前馈网络包含两次线性变换，中间使用 ReLU。</a:t>
            </a:r>
          </a:p>
          <a:p>
            <a:pPr marL="228600" indent="-114300" algn="l">
              <a:spcAft>
                <a:spcPts val="17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FFN 逐个位置计算，各位置共享参数。</a:t>
            </a:r>
          </a:p>
        </p:txBody>
      </p:sp>
      <p:sp>
        <p:nvSpPr>
          <p:cNvPr id="4" name="残差公式"/>
          <p:cNvSpPr>
            <a:spLocks noGrp="1"/>
          </p:cNvSpPr>
          <p:nvPr/>
        </p:nvSpPr>
        <p:spPr>
          <a:xfrm>
            <a:off x="552450" y="4391025"/>
            <a:ext cx="8039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LayerNorm(x + Sublayer(x))</a:t>
            </a:r>
            <a:endParaRPr sz="2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残差解释"/>
          <p:cNvSpPr>
            <a:spLocks noGrp="1"/>
          </p:cNvSpPr>
          <p:nvPr/>
        </p:nvSpPr>
        <p:spPr>
          <a:xfrm>
            <a:off x="552450" y="5334000"/>
            <a:ext cx="80391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残差连接保留原来的信息，LayerNorm 对相加后的特征做归一化。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Embedding 与位置编码</a:t>
            </a:r>
            <a:endParaRPr sz="3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90700"/>
            <a:ext cx="8039100" cy="3667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23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Embedding 把 token 转成模型可以处理的向量。</a:t>
            </a:r>
          </a:p>
          <a:p>
            <a:pPr marL="228600" indent="-114300" algn="l">
              <a:spcAft>
                <a:spcPts val="23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注意力本身没有直接记录先后顺序，因此需要加入位置信息。</a:t>
            </a:r>
          </a:p>
          <a:p>
            <a:pPr marL="228600" indent="-114300" algn="l">
              <a:spcAft>
                <a:spcPts val="23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模型把位置编码和 Embedding 相加，再送入 Encoder 或 Decoder。</a:t>
            </a:r>
          </a:p>
          <a:p>
            <a:pPr marL="228600" indent="-114300" algn="l">
              <a:spcAft>
                <a:spcPts val="23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原论文使用不同频率的正弦和余弦函数生成位置编码。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Embedding 与输出层参数共享</a:t>
            </a:r>
            <a:endParaRPr sz="3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14500"/>
            <a:ext cx="8039100" cy="2886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Embedding 按 token 索引查表，输出层为词表中的每个 token 计算一个</a:t>
            </a:r>
            <a:r>
              <a:rPr lang="zh-CN"/>
              <a:t>概率</a:t>
            </a:r>
            <a:r>
              <a:t>。</a:t>
            </a:r>
          </a:p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原论文让输入、输出 Embedding 和 softmax 前的线性层共享权重。</a:t>
            </a:r>
          </a:p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输出层使用词表权重矩阵 E 的转置，把隐藏状态映射成词表分数。</a:t>
            </a:r>
          </a:p>
        </p:txBody>
      </p:sp>
      <p:sp>
        <p:nvSpPr>
          <p:cNvPr id="3" name="公式"/>
          <p:cNvSpPr>
            <a:spLocks noGrp="1"/>
          </p:cNvSpPr>
          <p:nvPr/>
        </p:nvSpPr>
        <p:spPr>
          <a:xfrm>
            <a:off x="552450" y="4933950"/>
            <a:ext cx="80391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7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logits = HEᵀ</a:t>
            </a:r>
            <a:endParaRPr sz="27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维度"/>
          <p:cNvSpPr>
            <a:spLocks noGrp="1"/>
          </p:cNvSpPr>
          <p:nvPr/>
        </p:nvSpPr>
        <p:spPr>
          <a:xfrm>
            <a:off x="552450" y="5924550"/>
            <a:ext cx="80391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E：词表大小 × 特征维度     H：各位置的隐藏状态</a:t>
            </a:r>
            <a:endParaRPr sz="1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Vision Transformer（ViT）</a:t>
            </a:r>
            <a:endParaRPr sz="3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949" y="1457325"/>
            <a:ext cx="7774101" cy="4114800"/>
          </a:xfrm>
          <a:prstGeom prst="rect">
            <a:avLst/>
          </a:prstGeom>
        </p:spPr>
      </p:pic>
      <p:sp>
        <p:nvSpPr>
          <p:cNvPr id="3" name="正文"/>
          <p:cNvSpPr>
            <a:spLocks noGrp="1"/>
          </p:cNvSpPr>
          <p:nvPr/>
        </p:nvSpPr>
        <p:spPr>
          <a:xfrm>
            <a:off x="552450" y="5715000"/>
            <a:ext cx="80391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8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图像切成 patch 序列后，送入 Transformer Encoder。</a:t>
            </a:r>
          </a:p>
          <a:p>
            <a:pPr marL="228600" indent="-114300" algn="l">
              <a:spcAft>
                <a:spcPts val="8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zh-CN"/>
              <a:t>这篇论文的核心发现</a:t>
            </a:r>
            <a:r>
              <a:rPr lang="en-US" altLang="zh-CN"/>
              <a:t>：</a:t>
            </a:r>
            <a:r>
              <a:t>大规模预训练验证了 Transformer 用于图像分类的可行性。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6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Patch Embedding 与位置编码</a:t>
            </a:r>
            <a:endParaRPr sz="36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14500"/>
            <a:ext cx="8039100" cy="428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每个 P×P patch 展开成 P²C 维向量，用共享的线性层投影到 D 维。</a:t>
            </a:r>
          </a:p>
          <a:p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在序列开头加入可学习的 [CLS] token，最终表示用于分类。</a:t>
            </a:r>
          </a:p>
          <a:p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按序列编号添加可学习的 1D 位置向量，与内容向量逐元素相加。</a:t>
            </a:r>
          </a:p>
          <a:p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224×224 图像使用 16×16 patch 时，有 196 个 patch，加 [CLS] 后序列长度为 197。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归纳偏置与混合模型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14500"/>
            <a:ext cx="8039100" cy="423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CNN 通过卷积结构预设局部连接、二维邻域和平移等变性。</a:t>
            </a:r>
          </a:p>
          <a:p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ViT 自注意力可在全图交换信息，更多空间关系从训练数据中学习。</a:t>
            </a:r>
          </a:p>
          <a:p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混合模型先用 CNN 提取特征图，再对特征图中的 patch 做线性投影。</a:t>
            </a:r>
          </a:p>
          <a:p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1×1 patch 对应特征图一个位置的通道向量，再投影到 Transformer 维度。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微调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14500"/>
            <a:ext cx="8039100" cy="3429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lang="zh-CN"/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zh-CN"/>
              <a:t>面对不同的分类任务</a:t>
            </a:r>
            <a:r>
              <a:rPr lang="en-US" altLang="zh-CN"/>
              <a:t>，</a:t>
            </a:r>
            <a:r>
              <a:rPr lang="zh-CN" altLang="en-US"/>
              <a:t>只需</a:t>
            </a:r>
            <a:r>
              <a:t>更换预训练分类头，加入零初始化的 D×K 线性层，K 为下游类别数。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/>
              <a:t>Fine-Tuning: </a:t>
            </a:r>
            <a:r>
              <a:t>从预训练参数出发，微调 Transformer 主干和新的分类层。</a:t>
            </a:r>
          </a:p>
        </p:txBody>
      </p:sp>
      <p:sp>
        <p:nvSpPr>
          <p:cNvPr id="3" name="分辨率示例"/>
          <p:cNvSpPr>
            <a:spLocks noGrp="1"/>
          </p:cNvSpPr>
          <p:nvPr/>
        </p:nvSpPr>
        <p:spPr>
          <a:xfrm>
            <a:off x="552450" y="5524500"/>
            <a:ext cx="80391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ViT 实验设置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552450" y="1714500"/>
          <a:ext cx="8039100" cy="2476500"/>
        </p:xfrm>
        <a:graphic>
          <a:graphicData uri="http://schemas.openxmlformats.org/drawingml/2006/table">
            <a:tbl>
              <a:tblPr/>
              <a:tblGrid>
                <a:gridCol w="3714750"/>
                <a:gridCol w="1809750"/>
                <a:gridCol w="2514600"/>
              </a:tblGrid>
              <a:tr h="5334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预训练数据集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类别数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图像数量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6477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ImageNet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1,000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约 130 万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ImageNet-21k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21,000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约 1,400 万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JFT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18,000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约 3.03 亿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正文"/>
          <p:cNvSpPr>
            <a:spLocks noGrp="1"/>
          </p:cNvSpPr>
          <p:nvPr/>
        </p:nvSpPr>
        <p:spPr>
          <a:xfrm>
            <a:off x="552450" y="4610100"/>
            <a:ext cx="803910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分别预训练，再在下游图像分类任务上评估。
下游任务包括 ImageNet、CIFAR-10/100、Pets 和 Flowers-102。</a:t>
            </a:r>
          </a:p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预训练数据与下游测试集去重，避免测试数据泄漏。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ViT 模型配置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552450" y="1714500"/>
          <a:ext cx="8039100" cy="2400300"/>
        </p:xfrm>
        <a:graphic>
          <a:graphicData uri="http://schemas.openxmlformats.org/drawingml/2006/table">
            <a:tbl>
              <a:tblPr/>
              <a:tblGrid>
                <a:gridCol w="1428750"/>
                <a:gridCol w="904875"/>
                <a:gridCol w="1428750"/>
                <a:gridCol w="1762125"/>
                <a:gridCol w="857250"/>
                <a:gridCol w="1657350"/>
              </a:tblGrid>
              <a:tr h="5715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模型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层数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维度 D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MLP 维度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头数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参数量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Base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12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768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3072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12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86M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Large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24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1024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4096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16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307M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Huge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32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1280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5120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16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632M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正文"/>
          <p:cNvSpPr>
            <a:spLocks noGrp="1"/>
          </p:cNvSpPr>
          <p:nvPr/>
        </p:nvSpPr>
        <p:spPr>
          <a:xfrm>
            <a:off x="552450" y="4533900"/>
            <a:ext cx="8039100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Base 和 Large 借用 BERT 的模型配置。ViT-Huge 进一步扩大模型。</a:t>
            </a:r>
          </a:p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ViT-L/16 表示 Large 模型，patch 大小为 16×16。patch 越小，序列越长，计算量越大。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ViT 实验结果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552450" y="1685925"/>
          <a:ext cx="8039100" cy="3333752"/>
        </p:xfrm>
        <a:graphic>
          <a:graphicData uri="http://schemas.openxmlformats.org/drawingml/2006/table">
            <a:tbl>
              <a:tblPr/>
              <a:tblGrid>
                <a:gridCol w="1809750"/>
                <a:gridCol w="1428750"/>
                <a:gridCol w="1619250"/>
                <a:gridCol w="1619250"/>
                <a:gridCol w="1562100"/>
              </a:tblGrid>
              <a:tr h="7239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模型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预训练数据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ImageNet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CIFAR-10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预训练开销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TPUv3 核天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65246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ViT-H/14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JFT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88.55 ±0.04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99.50 ±0.06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2.5k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ViT-L/16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JFT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87.76 ±0.03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99.42 ±0.03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0.68k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ViT-L/16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ImageNet-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21k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85.30 ±0.02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99.15 ±0.03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0.23k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BiT-L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ResNet152×4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JFT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87.54 ±0.02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99.37 ±0.06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9.9k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统计说明"/>
          <p:cNvSpPr>
            <a:spLocks noGrp="1"/>
          </p:cNvSpPr>
          <p:nvPr/>
        </p:nvSpPr>
        <p:spPr>
          <a:xfrm>
            <a:off x="552450" y="5219700"/>
            <a:ext cx="80391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正文"/>
          <p:cNvSpPr>
            <a:spLocks noGrp="1"/>
          </p:cNvSpPr>
          <p:nvPr/>
        </p:nvSpPr>
        <p:spPr>
          <a:xfrm>
            <a:off x="539750" y="5534025"/>
            <a:ext cx="80391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预训练开销还受训练日程、优化器等设置影响。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预训练数据规模的影响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14500"/>
            <a:ext cx="8039100" cy="428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仅用 ImageNet 预训练时，Large 表现不及 Base。ImageNet-21k 上两者接近。</a:t>
            </a:r>
          </a:p>
          <a:p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在 JFT-300M 上，更大模型的优势才充分体现。</a:t>
            </a:r>
          </a:p>
          <a:p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JFT 子集实验比较 9M、30M、90M 与完整数据集，使用 ImageNet 线性 5-shot 评估。</a:t>
            </a:r>
          </a:p>
          <a:p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小子集上 ResNet 更占优。随着数据量增加，ViT 超过相近计算开销的 ResNet。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ViT 内部表示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1943090"/>
            <a:ext cx="3752850" cy="25241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769" y="1571625"/>
            <a:ext cx="3794987" cy="3267075"/>
          </a:xfrm>
          <a:prstGeom prst="rect">
            <a:avLst/>
          </a:prstGeom>
        </p:spPr>
      </p:pic>
      <p:sp>
        <p:nvSpPr>
          <p:cNvPr id="4" name="正文"/>
          <p:cNvSpPr>
            <a:spLocks noGrp="1"/>
          </p:cNvSpPr>
          <p:nvPr/>
        </p:nvSpPr>
        <p:spPr>
          <a:xfrm>
            <a:off x="552450" y="5143500"/>
            <a:ext cx="8039100" cy="167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zh-CN" sz="1600"/>
              <a:t>第一张图是主成分分析图</a:t>
            </a:r>
            <a:r>
              <a:rPr lang="en-US" altLang="zh-CN" sz="1600"/>
              <a:t>。</a:t>
            </a:r>
            <a:r>
              <a:rPr sz="1600"/>
              <a:t>Patch 投影权重的主成分呈现条纹、颜色变化等结构。</a:t>
            </a:r>
            <a:r>
              <a:rPr lang="zh-CN" altLang="en-US" sz="1600"/>
              <a:t>最开始的投影层已经学出了一些适合表示 </a:t>
            </a:r>
            <a:r>
              <a:rPr lang="en-US" altLang="zh-CN" sz="1600"/>
              <a:t>patch </a:t>
            </a:r>
            <a:r>
              <a:rPr lang="zh-CN" altLang="en-US" sz="1600"/>
              <a:t>内细节的模式。一种权重组合可能对颜色变化敏感，另一种可能对某个方向的明暗变化敏感</a:t>
            </a:r>
            <a:endParaRPr lang="zh-CN" altLang="en-US" sz="1600"/>
          </a:p>
          <a:p>
            <a:pPr marL="228600" indent="-114300" algn="l">
              <a:spcAft>
                <a:spcPts val="16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1D 位置编码训练后呈现二维空间规律：
附近、同行或同列的位置，其编码往往更相似。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ViT 注意力距离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1592990"/>
            <a:ext cx="4324350" cy="4129219"/>
          </a:xfrm>
          <a:prstGeom prst="rect">
            <a:avLst/>
          </a:prstGeom>
        </p:spPr>
      </p:pic>
      <p:sp>
        <p:nvSpPr>
          <p:cNvPr id="3" name="正文"/>
          <p:cNvSpPr>
            <a:spLocks noGrp="1"/>
          </p:cNvSpPr>
          <p:nvPr/>
        </p:nvSpPr>
        <p:spPr>
          <a:xfrm>
            <a:off x="5181600" y="1743075"/>
            <a:ext cx="3429000" cy="401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4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每个点代表一层中的一个头。</a:t>
            </a:r>
          </a:p>
          <a:p>
            <a:pPr marL="228600" indent="-114300" algn="l">
              <a:spcAft>
                <a:spcPts val="14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按权重计算平均空间距离。
数值越大，关注位置越远。</a:t>
            </a:r>
          </a:p>
          <a:p>
            <a:pPr marL="228600" indent="-114300" algn="l">
              <a:spcAft>
                <a:spcPts val="14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浅层同时有局部头和全局头。</a:t>
            </a:r>
          </a:p>
          <a:p>
            <a:pPr marL="228600" indent="-114300" algn="l">
              <a:spcAft>
                <a:spcPts val="14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深层多数头整合较远的信息。</a:t>
            </a:r>
          </a:p>
        </p:txBody>
      </p:sp>
      <p:sp>
        <p:nvSpPr>
          <p:cNvPr id="4" name="注意力距离说明"/>
          <p:cNvSpPr>
            <a:spLocks noGrp="1"/>
          </p:cNvSpPr>
          <p:nvPr/>
        </p:nvSpPr>
        <p:spPr>
          <a:xfrm>
            <a:off x="552450" y="6057900"/>
            <a:ext cx="80391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ViT 自监督学习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14500"/>
            <a:ext cx="8039100" cy="457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监督信号来自原始数据，预训练不需要人工类别标签。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选取 50% 的 patch 位置，将其中大部分 embedding 替换为 [MASK]。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预测原 patch 的平均颜色，量化为 512 种颜色。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预训练后使用类别标签微调，完成图像分类。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ViT-B/16 在 ImageNet 达到 79.9%，比从头训练高约 2 个百分点，比有监督预训练低约 4 个百分点。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95377DD4-2C0F-41C3-A9CC-081D2890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8229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为什么使用自注意力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4713552A-0EA7-443E-BC63-89D1E964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0391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6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训练时，各位置可以并行计算，减少逐步处理序列的等待。</a:t>
            </a:r>
          </a:p>
          <a:p xmlns:a="http://schemas.openxmlformats.org/drawingml/2006/main">
            <a:pPr marL="228600" indent="-114300" algn="l">
              <a:spcAft>
                <a:spcPts val="26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任意两个 token 可以直接交互，缩短远距离信息的传递路径。</a:t>
            </a:r>
          </a:p>
          <a:p xmlns:a="http://schemas.openxmlformats.org/drawingml/2006/main">
            <a:pPr marL="228600" indent="-114300" algn="l">
              <a:spcAft>
                <a:spcPts val="26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论文从每层计算量、顺序操作次数和依赖路径长度进行比较。</a:t>
            </a:r>
          </a:p>
          <a:p xmlns:a="http://schemas.openxmlformats.org/drawingml/2006/main">
            <a:pPr marL="228600" indent="-114300" algn="l">
              <a:spcAft>
                <a:spcPts val="26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全局自注意力的计算量随序列长度平方增长，长序列仍有较大开销。</a:t>
            </a:r>
          </a:p>
        </p:txBody>
      </p:sp>
    </p:spTree>
    <p:extLst>
      <p:ext uri="{BB962C8B-B14F-4D97-AF65-F5344CB8AC3E}">
        <p14:creationId xmlns:p14="http://schemas.microsoft.com/office/powerpoint/2010/main" val="1894475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9E97F22C-E77B-4908-BF22-93EEE393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8229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Transformer 训练设置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52450" y="1714500"/>
          <a:ext xmlns:a="http://schemas.openxmlformats.org/drawingml/2006/main" cx="8039100" cy="2000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2476500"/>
                <a:gridCol w="29908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翻译任务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数据集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训练数据规模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英语到德语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WMT 2014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约 450 万句对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英语到法语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WMT 2014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约 3,600 万句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0118EF18-B1F5-4BFA-ACD6-1EFB3607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80391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残差 Dropout：随机丢弃部分子层输出，Base 模型设为 0.1。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Label Smoothing：软化目标标签，
减少模型对单一答案的过度确信。</a:t>
            </a:r>
          </a:p>
        </p:txBody>
      </p:sp>
    </p:spTree>
    <p:extLst>
      <p:ext uri="{BB962C8B-B14F-4D97-AF65-F5344CB8AC3E}">
        <p14:creationId xmlns:p14="http://schemas.microsoft.com/office/powerpoint/2010/main" val="6375202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48020FF5-FD30-49CB-B1EE-84D7266D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8229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Transformer 翻译结果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52450" y="1714500"/>
          <a:ext xmlns:a="http://schemas.openxmlformats.org/drawingml/2006/main" cx="8039100" cy="2000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657600"/>
                <a:gridCol w="2190750"/>
                <a:gridCol w="21907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英德 BLEU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英法 BLEU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Transformer Base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27.3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38.1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Transformer Big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28.4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指标说明">
            <a:extLst xmlns:a="http://schemas.openxmlformats.org/drawingml/2006/main">
              <a:ext uri="{FF2B5EF4-FFF2-40B4-BE49-F238E27FC236}">
                <a16:creationId xmlns:a16="http://schemas.microsoft.com/office/drawing/2014/main" id="{2C1BECDB-A978-4CB5-BF27-22FC619F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803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newstest2014 测试集。BLEU 越高，翻译结果越好。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96467B2D-B129-4119-8225-CF183180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80391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3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英德：Big 超过此前最好结果（含集成模型）2 BLEU 以上。</a:t>
            </a:r>
          </a:p>
          <a:p xmlns:a="http://schemas.openxmlformats.org/drawingml/2006/main">
            <a:pPr marL="228600" indent="-114300" algn="l">
              <a:spcAft>
                <a:spcPts val="23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英法：超过此前单模型，训练开销低于此前最佳单模型的 1/4。</a:t>
            </a:r>
          </a:p>
        </p:txBody>
      </p:sp>
    </p:spTree>
    <p:extLst>
      <p:ext uri="{BB962C8B-B14F-4D97-AF65-F5344CB8AC3E}">
        <p14:creationId xmlns:p14="http://schemas.microsoft.com/office/powerpoint/2010/main" val="198585182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2C303D5E-76A5-482E-9E01-E74329A1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8229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Transformer 参数实验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52450" y="1562100"/>
          <a:ext xmlns:a="http://schemas.openxmlformats.org/drawingml/2006/main" cx="8039100" cy="3352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924550"/>
                <a:gridCol w="21145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相对 Base 的变化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开发集 BLEU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Base：8 头，前馈维度 2048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注意力改为 1 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注意力改为 32 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前馈维度增至 4096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26.2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去掉 Dropout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24.6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去掉 Label Smoothing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换成可学习位置编码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评估说明">
            <a:extLst xmlns:a="http://schemas.openxmlformats.org/drawingml/2006/main">
              <a:ext uri="{FF2B5EF4-FFF2-40B4-BE49-F238E27FC236}">
                <a16:creationId xmlns:a16="http://schemas.microsoft.com/office/drawing/2014/main" id="{49BB7E4B-ACF6-4D00-B67F-7ACA7DB4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803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英德开发集 newstest2013，节选表 3。BLEU 越高越好。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5F5E0CA6-946E-4553-BE78-D59BB01D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48325"/>
            <a:ext cx="803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单头和去掉正则化时得分下降。
可学习位置编码与正余弦编码的结果接近。</a:t>
            </a:r>
          </a:p>
        </p:txBody>
      </p:sp>
    </p:spTree>
    <p:extLst>
      <p:ext uri="{BB962C8B-B14F-4D97-AF65-F5344CB8AC3E}">
        <p14:creationId xmlns:p14="http://schemas.microsoft.com/office/powerpoint/2010/main" val="62412388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99BDA683-D2F6-44CF-B5C9-513D3D04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8229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英语成分句法分析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D4B49C8C-FBCB-4FDD-B221-03330B21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8039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任务：把句子转换为描述短语结构的句法树。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使用 4 层 Transformer，检验翻译之外的结构化输出任务。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52450" y="3181350"/>
          <a:ext xmlns:a="http://schemas.openxmlformats.org/drawingml/2006/main" cx="8039100" cy="1828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3143250"/>
                <a:gridCol w="165735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训练数据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Berkeley Parser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仅 WSJ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90.4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Transformer（4 层）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仅 WSJ，约 4 万句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91.3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F1B7DD91-FC50-479D-A14B-58A87EDF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8039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仅用 WSJ 训练集，Transformer 就超过 Berkeley Parser。
说明它也能处理带有结构约束的输出。</a:t>
            </a:r>
          </a:p>
        </p:txBody>
      </p:sp>
    </p:spTree>
    <p:extLst>
      <p:ext uri="{BB962C8B-B14F-4D97-AF65-F5344CB8AC3E}">
        <p14:creationId xmlns:p14="http://schemas.microsoft.com/office/powerpoint/2010/main" val="183902425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5F3D66A2-4432-4E54-A7FA-69F883AF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8229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Transformer 结论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0ADEFF36-3FA4-4C78-BCE3-166EE842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0391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6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用注意力完成序列建模，提高训练时的并行程度。</a:t>
            </a:r>
          </a:p>
          <a:p xmlns:a="http://schemas.openxmlformats.org/drawingml/2006/main">
            <a:pPr marL="228600" indent="-114300" algn="l">
              <a:spcAft>
                <a:spcPts val="26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机器翻译实验取得更好的结果，训练开销也更低。</a:t>
            </a:r>
          </a:p>
          <a:p xmlns:a="http://schemas.openxmlformats.org/drawingml/2006/main">
            <a:pPr marL="228600" indent="-114300" algn="l">
              <a:spcAft>
                <a:spcPts val="26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句法分析实验表明，这一架构能用于翻译之外的任务。</a:t>
            </a:r>
          </a:p>
          <a:p xmlns:a="http://schemas.openxmlformats.org/drawingml/2006/main">
            <a:pPr marL="228600" indent="-114300" algn="l">
              <a:spcAft>
                <a:spcPts val="26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论文提出继续探索图像、音频和视频任务。
下一部分介绍将 Transformer 用于图像分类的 ViT。</a:t>
            </a:r>
          </a:p>
        </p:txBody>
      </p:sp>
    </p:spTree>
    <p:extLst>
      <p:ext uri="{BB962C8B-B14F-4D97-AF65-F5344CB8AC3E}">
        <p14:creationId xmlns:p14="http://schemas.microsoft.com/office/powerpoint/2010/main" val="2135018606"/>
      </p:ext>
    </p:extLst>
  </p:cSld>
</p:sld>
</file>

<file path=ppt/theme/theme1.xml><?xml version="1.0" encoding="utf-8"?>
<a:theme xmlns:a="http://schemas.openxmlformats.org/drawingml/2006/main" name="默认设计模板">
  <a:themeElements>
    <a:clrScheme name="ChatGP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ChatGP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3524</Words>
  <Application>WPS 文字</Application>
  <PresentationFormat>Converted Presentation</PresentationFormat>
  <Paragraphs>333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Arial</vt:lpstr>
      <vt:lpstr>宋体</vt:lpstr>
      <vt:lpstr>Wingdings</vt:lpstr>
      <vt:lpstr>Arial</vt:lpstr>
      <vt:lpstr>宋体</vt:lpstr>
      <vt:lpstr>汉仪书宋二KW</vt:lpstr>
      <vt:lpstr>微软雅黑</vt:lpstr>
      <vt:lpstr>方正雅意黑 GB18030L2</vt:lpstr>
      <vt:lpstr>Arial Unicode MS</vt:lpstr>
      <vt:lpstr>Calibri</vt:lpstr>
      <vt:lpstr>Helvetica Neue</vt:lpstr>
      <vt:lpstr>Arial Regular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李培煜</cp:lastModifiedBy>
  <cp:revision>6</cp:revision>
  <dcterms:created xsi:type="dcterms:W3CDTF">2026-10-07T05:17:43Z</dcterms:created>
  <dcterms:modified xsi:type="dcterms:W3CDTF">2026-10-07T05:17:43Z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094B15918BADD3779AE3C46ACB6D0D3E_43</vt:lpwstr>
  </property>
</Properties>
</file>